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Our project: teach a computer to tell cats from dogs. We built a CNN from scratch, tried two improvements, then used transfer learning. We will show real results from our notebook, including where the network actually looks.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goal in one sentence, then walk through the plan. Point out that every number in this talk comes from our notebook outputs.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dense network on a 96x96x3 image would need 1.8 million weights for a single 64-neuron layer and would relearn every pattern at each position. A CNN uses small filters that slide over the image: local connections and weight sharing. Convolution finds patterns, ReLU adds nonlinearity, pooling shrinks the image, the dense layers decide. Training: forward pass, loss, backpropagation, optimizer step.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Google's filtered Kaggle cats-and-dogs set. We split the 2,000 original training images 80/20, stratified, into 1,600 for training and 400 for the final test. The 1,000 validation images are only used to pick the best epoch and model. Classes are perfectly balanced, so accuracy is a fair metric.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raw JPEGs come in 1,604 different sizes, from 59x41 to 1050x768 pixels, mostly landscape. A network needs a fixed input, so we resize to 96x96 with 3 RGB channels. 96 keeps CPU training fast; the cost is lost detail and some stretching.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blocks with 16, 32, 64 and 128 filters. Conv parameters: (3x3xC_in + 1) x C_out, the +1 is the bias. The Dense(64) layer alone holds 75% of all parameters. We checked our hand calculation against Keras count_params. Adam because it adapts the step size per weight and works well by default; binary cross-entropy because we have one sigmoid output for two classes.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accuracy keeps rising to 84.5% while validation loss stops improving after epoch 11 and fluctuates. That is the classic sign of overfitting: the model starts memorizing the 1,600 training images. It is not underfitting: it learns well on training data. We keep the epoch 11 weights.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horizontal flips, small rotations and zooms create new variants of each image every epoch. As the syllabus asks, we augment training and validation but never test. The train/validation gap shrinks a lot, so overfitting is reduced, but learning is slower: after 15 epochs it is not ahead yet. In a 30-epoch check it became our best CNN on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normalization makes learning much faster: best epoch 6 instead of 11. Dropout of 30% before the dense layer. Debugging story: our first version predicted only one class. Keras BN momentum 0.99 keeps about 9% of the initial statistics after our 240 updates, so validation used wrong statistics. Momentum 0.9 fixed it. It still overfits after epoch 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MobileNetV2 was pretrained on 1.2 million ImageNet images. Step A: freeze it and train only a new sigmoid output: 94.5% on test. Step B: unfreeze the last 30 layers and train with a learning rate 100 times smaller, so we adapt the filters without destroying them. Small gain, 94.8%, within noise, and it overfits quickly.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Confusion matrices for all five models. Precision: of the images we call dog, how many are dogs. Recall: of the dogs, how many we find. The baseline has high precision but low recall: it misses many dogs. The three from-scratch CNNs are within about 2 standard errors of each other, so we cannot rank them reliably. Transfer learning is clearly better.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confusion matrix uses one threshold, 0.5. The ROC curve tries every threshold. AUC is the probability that a random dog gets a higher score than a random cat. Our CNNs are around 0.82 to 0.85; MobileNetV2 is near perfect at 0.99.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feature maps of block 1 behave like edge detectors: whiskers, eyes, fur stripes. Block 3 is coarser and more abstract. Bottom: Grad-CAM shows where the baseline looks. Surprise: often the background, the floor, the fence, the image borders. With only 1,600 images a small CNN learns shortcuts. That explains why it plateaus near 75% and why pretraining helps so much.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fine-tuned MobileNetV2 makes 21 errors out of 400. These are its most confident mistakes. Typical causes: the animal is small or partly hidden, held by a person, unusual pose, or a fluffy light-coloured cat that looks like a small dog. At 96 by 96 pixels, fine details disappear.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a 4-block CNN reaches about 78%. Our two improvements reduced overfitting or sped up learning, but with one run and 400 test images we cannot claim they beat the baseline. Transfer learning reaches almost 95%. Next steps: several seeds, longer augmented training, bigger images, augmentation combined with fine-tuning.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sources are listed in the notebook too. We used an AI assistant only for hyperparameter recommendations, for questioning our choices and interpretations, and for text formatting.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2286000" cy="73152"/>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515600" cy="914400"/>
          </a:xfrm>
          <a:prstGeom prst="rect">
            <a:avLst/>
          </a:prstGeom>
          <a:noFill/>
        </p:spPr>
        <p:txBody>
          <a:bodyPr wrap="square">
            <a:spAutoFit/>
          </a:bodyPr>
          <a:lstStyle/>
          <a:p>
            <a:pPr algn="l">
              <a:spcAft>
                <a:spcPts val="800"/>
              </a:spcAft>
            </a:pPr>
            <a:r>
              <a:rPr sz="4600" b="1">
                <a:solidFill>
                  <a:srgbClr val="FFFFFF"/>
                </a:solidFill>
              </a:rPr>
              <a:t>Teaching Computers to See</a:t>
            </a:r>
          </a:p>
        </p:txBody>
      </p:sp>
      <p:sp>
        <p:nvSpPr>
          <p:cNvPr id="5" name="TextBox 4"/>
          <p:cNvSpPr txBox="1"/>
          <p:nvPr/>
        </p:nvSpPr>
        <p:spPr>
          <a:xfrm>
            <a:off x="731520" y="2331720"/>
            <a:ext cx="10515600" cy="914400"/>
          </a:xfrm>
          <a:prstGeom prst="rect">
            <a:avLst/>
          </a:prstGeom>
          <a:noFill/>
        </p:spPr>
        <p:txBody>
          <a:bodyPr wrap="square">
            <a:spAutoFit/>
          </a:bodyPr>
          <a:lstStyle/>
          <a:p>
            <a:pPr algn="l">
              <a:spcAft>
                <a:spcPts val="800"/>
              </a:spcAft>
            </a:pPr>
            <a:r>
              <a:rPr sz="2600" b="0">
                <a:solidFill>
                  <a:srgbClr val="D8DEE9"/>
                </a:solidFill>
              </a:rPr>
              <a:t>Cats vs dogs image classification with CNNs</a:t>
            </a:r>
          </a:p>
        </p:txBody>
      </p:sp>
      <p:sp>
        <p:nvSpPr>
          <p:cNvPr id="6" name="TextBox 5"/>
          <p:cNvSpPr txBox="1"/>
          <p:nvPr/>
        </p:nvSpPr>
        <p:spPr>
          <a:xfrm>
            <a:off x="731520" y="3657600"/>
            <a:ext cx="10515600" cy="1371600"/>
          </a:xfrm>
          <a:prstGeom prst="rect">
            <a:avLst/>
          </a:prstGeom>
          <a:noFill/>
        </p:spPr>
        <p:txBody>
          <a:bodyPr wrap="square">
            <a:spAutoFit/>
          </a:bodyPr>
          <a:lstStyle/>
          <a:p>
            <a:pPr algn="l">
              <a:spcAft>
                <a:spcPts val="800"/>
              </a:spcAft>
            </a:pPr>
            <a:r>
              <a:rPr sz="2000" b="0">
                <a:solidFill>
                  <a:srgbClr val="D8DEE9"/>
                </a:solidFill>
              </a:rPr>
              <a:t>Valentin Belougne, Simon Jennequin, Thomas Danjou</a:t>
            </a:r>
          </a:p>
          <a:p>
            <a:pPr algn="l">
              <a:spcAft>
                <a:spcPts val="800"/>
              </a:spcAft>
            </a:pPr>
            <a:r>
              <a:rPr sz="2000" b="0">
                <a:solidFill>
                  <a:srgbClr val="D8DEE9"/>
                </a:solidFill>
              </a:rPr>
              <a:t>ST2AIM project, EFREI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Goal and plan</a:t>
            </a:r>
          </a:p>
        </p:txBody>
      </p:sp>
      <p:sp>
        <p:nvSpPr>
          <p:cNvPr id="5" name="TextBox 4"/>
          <p:cNvSpPr txBox="1"/>
          <p:nvPr/>
        </p:nvSpPr>
        <p:spPr>
          <a:xfrm>
            <a:off x="640080" y="1463040"/>
            <a:ext cx="5486400" cy="4572000"/>
          </a:xfrm>
          <a:prstGeom prst="rect">
            <a:avLst/>
          </a:prstGeom>
          <a:noFill/>
        </p:spPr>
        <p:txBody>
          <a:bodyPr wrap="square">
            <a:spAutoFit/>
          </a:bodyPr>
          <a:lstStyle/>
          <a:p>
            <a:pPr algn="l">
              <a:spcAft>
                <a:spcPts val="800"/>
              </a:spcAft>
            </a:pPr>
            <a:r>
              <a:rPr sz="2000" b="0">
                <a:solidFill>
                  <a:srgbClr val="1F2A44"/>
                </a:solidFill>
              </a:rPr>
              <a:t>Goal: given a photo, predict cat or dog.</a:t>
            </a:r>
          </a:p>
          <a:p>
            <a:pPr algn="l">
              <a:spcAft>
                <a:spcPts val="800"/>
              </a:spcAft>
            </a:pPr>
            <a:r>
              <a:rPr sz="2000" b="0">
                <a:solidFill>
                  <a:srgbClr val="1F2A44"/>
                </a:solidFill>
              </a:rPr>
              <a:t/>
            </a:r>
          </a:p>
          <a:p>
            <a:pPr algn="l">
              <a:spcAft>
                <a:spcPts val="800"/>
              </a:spcAft>
            </a:pPr>
            <a:r>
              <a:rPr sz="2000" b="0">
                <a:solidFill>
                  <a:srgbClr val="1F2A44"/>
                </a:solidFill>
              </a:rPr>
              <a:t>•  Understand how a CNN works</a:t>
            </a:r>
          </a:p>
          <a:p>
            <a:pPr algn="l">
              <a:spcAft>
                <a:spcPts val="800"/>
              </a:spcAft>
            </a:pPr>
            <a:r>
              <a:rPr sz="2000" b="0">
                <a:solidFill>
                  <a:srgbClr val="1F2A44"/>
                </a:solidFill>
              </a:rPr>
              <a:t>•  Explore the dataset</a:t>
            </a:r>
          </a:p>
          <a:p>
            <a:pPr algn="l">
              <a:spcAft>
                <a:spcPts val="800"/>
              </a:spcAft>
            </a:pPr>
            <a:r>
              <a:rPr sz="2000" b="0">
                <a:solidFill>
                  <a:srgbClr val="1F2A44"/>
                </a:solidFill>
              </a:rPr>
              <a:t>•  Build and train a 4-block CNN</a:t>
            </a:r>
          </a:p>
          <a:p>
            <a:pPr algn="l">
              <a:spcAft>
                <a:spcPts val="800"/>
              </a:spcAft>
            </a:pPr>
            <a:r>
              <a:rPr sz="2000" b="0">
                <a:solidFill>
                  <a:srgbClr val="1F2A44"/>
                </a:solidFill>
              </a:rPr>
              <a:t>•  Evaluate on a held-out test set</a:t>
            </a:r>
          </a:p>
          <a:p>
            <a:pPr algn="l">
              <a:spcAft>
                <a:spcPts val="800"/>
              </a:spcAft>
            </a:pPr>
            <a:r>
              <a:rPr sz="2000" b="0">
                <a:solidFill>
                  <a:srgbClr val="1F2A44"/>
                </a:solidFill>
              </a:rPr>
              <a:t>•  Improve it: data augmentation, dropout + batch normalization</a:t>
            </a:r>
          </a:p>
          <a:p>
            <a:pPr algn="l">
              <a:spcAft>
                <a:spcPts val="800"/>
              </a:spcAft>
            </a:pPr>
            <a:r>
              <a:rPr sz="2000" b="0">
                <a:solidFill>
                  <a:srgbClr val="1F2A44"/>
                </a:solidFill>
              </a:rPr>
              <a:t>•  Bonus: transfer learning with MobileNetV2</a:t>
            </a:r>
          </a:p>
          <a:p>
            <a:pPr algn="l">
              <a:spcAft>
                <a:spcPts val="800"/>
              </a:spcAft>
            </a:pPr>
            <a:r>
              <a:rPr sz="2000" b="0">
                <a:solidFill>
                  <a:srgbClr val="1F2A44"/>
                </a:solidFill>
              </a:rPr>
              <a:t>•  Look inside: feature maps and Grad-CAM</a:t>
            </a:r>
          </a:p>
        </p:txBody>
      </p:sp>
      <p:sp>
        <p:nvSpPr>
          <p:cNvPr id="6" name="Rounded Rectangle 5"/>
          <p:cNvSpPr/>
          <p:nvPr/>
        </p:nvSpPr>
        <p:spPr>
          <a:xfrm>
            <a:off x="7589520" y="1645920"/>
            <a:ext cx="3840480" cy="12344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737360"/>
            <a:ext cx="3474720" cy="640080"/>
          </a:xfrm>
          <a:prstGeom prst="rect">
            <a:avLst/>
          </a:prstGeom>
          <a:noFill/>
        </p:spPr>
        <p:txBody>
          <a:bodyPr wrap="square">
            <a:spAutoFit/>
          </a:bodyPr>
          <a:lstStyle/>
          <a:p>
            <a:pPr algn="ctr">
              <a:spcAft>
                <a:spcPts val="800"/>
              </a:spcAft>
            </a:pPr>
            <a:r>
              <a:rPr sz="3200" b="1">
                <a:solidFill>
                  <a:srgbClr val="E07A1F"/>
                </a:solidFill>
              </a:rPr>
              <a:t>3,000</a:t>
            </a:r>
          </a:p>
        </p:txBody>
      </p:sp>
      <p:sp>
        <p:nvSpPr>
          <p:cNvPr id="8" name="TextBox 7"/>
          <p:cNvSpPr txBox="1"/>
          <p:nvPr/>
        </p:nvSpPr>
        <p:spPr>
          <a:xfrm>
            <a:off x="7772400" y="2331720"/>
            <a:ext cx="3474720" cy="457200"/>
          </a:xfrm>
          <a:prstGeom prst="rect">
            <a:avLst/>
          </a:prstGeom>
          <a:noFill/>
        </p:spPr>
        <p:txBody>
          <a:bodyPr wrap="square">
            <a:spAutoFit/>
          </a:bodyPr>
          <a:lstStyle/>
          <a:p>
            <a:pPr algn="ctr">
              <a:spcAft>
                <a:spcPts val="800"/>
              </a:spcAft>
            </a:pPr>
            <a:r>
              <a:rPr sz="1600" b="0">
                <a:solidFill>
                  <a:srgbClr val="555B66"/>
                </a:solidFill>
              </a:rPr>
              <a:t>images</a:t>
            </a:r>
          </a:p>
        </p:txBody>
      </p:sp>
      <p:sp>
        <p:nvSpPr>
          <p:cNvPr id="9" name="Rounded Rectangle 8"/>
          <p:cNvSpPr/>
          <p:nvPr/>
        </p:nvSpPr>
        <p:spPr>
          <a:xfrm>
            <a:off x="7589520" y="3108960"/>
            <a:ext cx="3840480" cy="12344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3200400"/>
            <a:ext cx="3474720" cy="640080"/>
          </a:xfrm>
          <a:prstGeom prst="rect">
            <a:avLst/>
          </a:prstGeom>
          <a:noFill/>
        </p:spPr>
        <p:txBody>
          <a:bodyPr wrap="square">
            <a:spAutoFit/>
          </a:bodyPr>
          <a:lstStyle/>
          <a:p>
            <a:pPr algn="ctr">
              <a:spcAft>
                <a:spcPts val="800"/>
              </a:spcAft>
            </a:pPr>
            <a:r>
              <a:rPr sz="3200" b="1">
                <a:solidFill>
                  <a:srgbClr val="E07A1F"/>
                </a:solidFill>
              </a:rPr>
              <a:t>5</a:t>
            </a:r>
          </a:p>
        </p:txBody>
      </p:sp>
      <p:sp>
        <p:nvSpPr>
          <p:cNvPr id="11" name="TextBox 10"/>
          <p:cNvSpPr txBox="1"/>
          <p:nvPr/>
        </p:nvSpPr>
        <p:spPr>
          <a:xfrm>
            <a:off x="7772400" y="3794760"/>
            <a:ext cx="3474720" cy="457200"/>
          </a:xfrm>
          <a:prstGeom prst="rect">
            <a:avLst/>
          </a:prstGeom>
          <a:noFill/>
        </p:spPr>
        <p:txBody>
          <a:bodyPr wrap="square">
            <a:spAutoFit/>
          </a:bodyPr>
          <a:lstStyle/>
          <a:p>
            <a:pPr algn="ctr">
              <a:spcAft>
                <a:spcPts val="800"/>
              </a:spcAft>
            </a:pPr>
            <a:r>
              <a:rPr sz="1600" b="0">
                <a:solidFill>
                  <a:srgbClr val="555B66"/>
                </a:solidFill>
              </a:rPr>
              <a:t>models compared</a:t>
            </a:r>
          </a:p>
        </p:txBody>
      </p:sp>
      <p:sp>
        <p:nvSpPr>
          <p:cNvPr id="12" name="Rounded Rectangle 11"/>
          <p:cNvSpPr/>
          <p:nvPr/>
        </p:nvSpPr>
        <p:spPr>
          <a:xfrm>
            <a:off x="7589520" y="4572000"/>
            <a:ext cx="3840480" cy="12344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4663440"/>
            <a:ext cx="3474720" cy="640080"/>
          </a:xfrm>
          <a:prstGeom prst="rect">
            <a:avLst/>
          </a:prstGeom>
          <a:noFill/>
        </p:spPr>
        <p:txBody>
          <a:bodyPr wrap="square">
            <a:spAutoFit/>
          </a:bodyPr>
          <a:lstStyle/>
          <a:p>
            <a:pPr algn="ctr">
              <a:spcAft>
                <a:spcPts val="800"/>
              </a:spcAft>
            </a:pPr>
            <a:r>
              <a:rPr sz="3200" b="1">
                <a:solidFill>
                  <a:srgbClr val="E07A1F"/>
                </a:solidFill>
              </a:rPr>
              <a:t>94.8%</a:t>
            </a:r>
          </a:p>
        </p:txBody>
      </p:sp>
      <p:sp>
        <p:nvSpPr>
          <p:cNvPr id="14" name="TextBox 13"/>
          <p:cNvSpPr txBox="1"/>
          <p:nvPr/>
        </p:nvSpPr>
        <p:spPr>
          <a:xfrm>
            <a:off x="7772400" y="5257800"/>
            <a:ext cx="3474720" cy="457200"/>
          </a:xfrm>
          <a:prstGeom prst="rect">
            <a:avLst/>
          </a:prstGeom>
          <a:noFill/>
        </p:spPr>
        <p:txBody>
          <a:bodyPr wrap="square">
            <a:spAutoFit/>
          </a:bodyPr>
          <a:lstStyle/>
          <a:p>
            <a:pPr algn="ctr">
              <a:spcAft>
                <a:spcPts val="800"/>
              </a:spcAft>
            </a:pPr>
            <a:r>
              <a:rPr sz="1600" b="0">
                <a:solidFill>
                  <a:srgbClr val="555B66"/>
                </a:solidFill>
              </a:rPr>
              <a:t>best test accuracy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What is a CNN?</a:t>
            </a:r>
          </a:p>
        </p:txBody>
      </p:sp>
      <p:sp>
        <p:nvSpPr>
          <p:cNvPr id="5" name="TextBox 4"/>
          <p:cNvSpPr txBox="1"/>
          <p:nvPr/>
        </p:nvSpPr>
        <p:spPr>
          <a:xfrm>
            <a:off x="457200" y="1143000"/>
            <a:ext cx="11247120" cy="548640"/>
          </a:xfrm>
          <a:prstGeom prst="rect">
            <a:avLst/>
          </a:prstGeom>
          <a:noFill/>
        </p:spPr>
        <p:txBody>
          <a:bodyPr wrap="square">
            <a:spAutoFit/>
          </a:bodyPr>
          <a:lstStyle/>
          <a:p>
            <a:pPr algn="l">
              <a:spcAft>
                <a:spcPts val="800"/>
              </a:spcAft>
            </a:pPr>
            <a:r>
              <a:rPr sz="1700" b="0">
                <a:solidFill>
                  <a:srgbClr val="555B66"/>
                </a:solidFill>
              </a:rPr>
              <a:t>Small learned filters slide over the image: local connections + shared weights</a:t>
            </a:r>
          </a:p>
        </p:txBody>
      </p:sp>
      <p:sp>
        <p:nvSpPr>
          <p:cNvPr id="6" name="Rounded Rectangle 5"/>
          <p:cNvSpPr/>
          <p:nvPr/>
        </p:nvSpPr>
        <p:spPr>
          <a:xfrm>
            <a:off x="640080" y="1828800"/>
            <a:ext cx="2377440" cy="566928"/>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t>Convolution</a:t>
            </a:r>
          </a:p>
        </p:txBody>
      </p:sp>
      <p:sp>
        <p:nvSpPr>
          <p:cNvPr id="7" name="TextBox 6"/>
          <p:cNvSpPr txBox="1"/>
          <p:nvPr/>
        </p:nvSpPr>
        <p:spPr>
          <a:xfrm>
            <a:off x="3200400" y="1901952"/>
            <a:ext cx="8503920" cy="548640"/>
          </a:xfrm>
          <a:prstGeom prst="rect">
            <a:avLst/>
          </a:prstGeom>
          <a:noFill/>
        </p:spPr>
        <p:txBody>
          <a:bodyPr wrap="square">
            <a:spAutoFit/>
          </a:bodyPr>
          <a:lstStyle/>
          <a:p>
            <a:pPr algn="l">
              <a:spcAft>
                <a:spcPts val="800"/>
              </a:spcAft>
            </a:pPr>
            <a:r>
              <a:rPr sz="1800" b="0">
                <a:solidFill>
                  <a:srgbClr val="1F2A44"/>
                </a:solidFill>
              </a:rPr>
              <a:t>learned 3×3 filters → feature maps (edges, textures, then ears, eyes…)</a:t>
            </a:r>
          </a:p>
        </p:txBody>
      </p:sp>
      <p:sp>
        <p:nvSpPr>
          <p:cNvPr id="8" name="Rounded Rectangle 7"/>
          <p:cNvSpPr/>
          <p:nvPr/>
        </p:nvSpPr>
        <p:spPr>
          <a:xfrm>
            <a:off x="640080" y="2542032"/>
            <a:ext cx="2377440" cy="566928"/>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t>ReLU</a:t>
            </a:r>
          </a:p>
        </p:txBody>
      </p:sp>
      <p:sp>
        <p:nvSpPr>
          <p:cNvPr id="9" name="TextBox 8"/>
          <p:cNvSpPr txBox="1"/>
          <p:nvPr/>
        </p:nvSpPr>
        <p:spPr>
          <a:xfrm>
            <a:off x="3200400" y="2615184"/>
            <a:ext cx="8503920" cy="548640"/>
          </a:xfrm>
          <a:prstGeom prst="rect">
            <a:avLst/>
          </a:prstGeom>
          <a:noFill/>
        </p:spPr>
        <p:txBody>
          <a:bodyPr wrap="square">
            <a:spAutoFit/>
          </a:bodyPr>
          <a:lstStyle/>
          <a:p>
            <a:pPr algn="l">
              <a:spcAft>
                <a:spcPts val="800"/>
              </a:spcAft>
            </a:pPr>
            <a:r>
              <a:rPr sz="1800" b="0">
                <a:solidFill>
                  <a:srgbClr val="1F2A44"/>
                </a:solidFill>
              </a:rPr>
              <a:t>max(0, x): nonlinearity, otherwise everything stays linear</a:t>
            </a:r>
          </a:p>
        </p:txBody>
      </p:sp>
      <p:sp>
        <p:nvSpPr>
          <p:cNvPr id="10" name="Rounded Rectangle 9"/>
          <p:cNvSpPr/>
          <p:nvPr/>
        </p:nvSpPr>
        <p:spPr>
          <a:xfrm>
            <a:off x="640080" y="3255264"/>
            <a:ext cx="2377440" cy="566928"/>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t>Max pooling 2×2</a:t>
            </a:r>
          </a:p>
        </p:txBody>
      </p:sp>
      <p:sp>
        <p:nvSpPr>
          <p:cNvPr id="11" name="TextBox 10"/>
          <p:cNvSpPr txBox="1"/>
          <p:nvPr/>
        </p:nvSpPr>
        <p:spPr>
          <a:xfrm>
            <a:off x="3200400" y="3328416"/>
            <a:ext cx="8503920" cy="548640"/>
          </a:xfrm>
          <a:prstGeom prst="rect">
            <a:avLst/>
          </a:prstGeom>
          <a:noFill/>
        </p:spPr>
        <p:txBody>
          <a:bodyPr wrap="square">
            <a:spAutoFit/>
          </a:bodyPr>
          <a:lstStyle/>
          <a:p>
            <a:pPr algn="l">
              <a:spcAft>
                <a:spcPts val="800"/>
              </a:spcAft>
            </a:pPr>
            <a:r>
              <a:rPr sz="1800" b="0">
                <a:solidFill>
                  <a:srgbClr val="1F2A44"/>
                </a:solidFill>
              </a:rPr>
              <a:t>keeps the strongest value, halves width and height</a:t>
            </a:r>
          </a:p>
        </p:txBody>
      </p:sp>
      <p:sp>
        <p:nvSpPr>
          <p:cNvPr id="12" name="Rounded Rectangle 11"/>
          <p:cNvSpPr/>
          <p:nvPr/>
        </p:nvSpPr>
        <p:spPr>
          <a:xfrm>
            <a:off x="640080" y="3968496"/>
            <a:ext cx="2377440" cy="566928"/>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t>Dense layers</a:t>
            </a:r>
          </a:p>
        </p:txBody>
      </p:sp>
      <p:sp>
        <p:nvSpPr>
          <p:cNvPr id="13" name="TextBox 12"/>
          <p:cNvSpPr txBox="1"/>
          <p:nvPr/>
        </p:nvSpPr>
        <p:spPr>
          <a:xfrm>
            <a:off x="3200400" y="4041648"/>
            <a:ext cx="8503920" cy="548640"/>
          </a:xfrm>
          <a:prstGeom prst="rect">
            <a:avLst/>
          </a:prstGeom>
          <a:noFill/>
        </p:spPr>
        <p:txBody>
          <a:bodyPr wrap="square">
            <a:spAutoFit/>
          </a:bodyPr>
          <a:lstStyle/>
          <a:p>
            <a:pPr algn="l">
              <a:spcAft>
                <a:spcPts val="800"/>
              </a:spcAft>
            </a:pPr>
            <a:r>
              <a:rPr sz="1800" b="0">
                <a:solidFill>
                  <a:srgbClr val="1F2A44"/>
                </a:solidFill>
              </a:rPr>
              <a:t>combine all features into a decision; sigmoid → P(dog)</a:t>
            </a:r>
          </a:p>
        </p:txBody>
      </p:sp>
      <p:sp>
        <p:nvSpPr>
          <p:cNvPr id="14" name="Rounded Rectangle 13"/>
          <p:cNvSpPr/>
          <p:nvPr/>
        </p:nvSpPr>
        <p:spPr>
          <a:xfrm>
            <a:off x="411480" y="4937760"/>
            <a:ext cx="1188720" cy="1005840"/>
          </a:xfrm>
          <a:prstGeom prst="roundRect">
            <a:avLst/>
          </a:prstGeom>
          <a:solidFill>
            <a:srgbClr val="1F2A44"/>
          </a:solidFill>
          <a:ln>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Input</a:t>
            </a:r>
          </a:p>
          <a:p>
            <a:pPr algn="ctr"/>
            <a:r>
              <a:rPr sz="1400">
                <a:solidFill>
                  <a:srgbClr val="FFFFFF"/>
                </a:solidFill>
              </a:rPr>
              <a:t>96×96×3</a:t>
            </a:r>
          </a:p>
        </p:txBody>
      </p:sp>
      <p:sp>
        <p:nvSpPr>
          <p:cNvPr id="15" name="Right Arrow 14"/>
          <p:cNvSpPr/>
          <p:nvPr/>
        </p:nvSpPr>
        <p:spPr>
          <a:xfrm>
            <a:off x="1627632" y="5330952"/>
            <a:ext cx="201168" cy="219456"/>
          </a:xfrm>
          <a:prstGeom prst="rightArrow">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856232" y="4937760"/>
            <a:ext cx="1188720" cy="1005840"/>
          </a:xfrm>
          <a:prstGeom prst="roundRect">
            <a:avLst/>
          </a:prstGeom>
          <a:solidFill>
            <a:srgbClr val="F2F4F7"/>
          </a:solidFill>
          <a:ln>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rPr>
              <a:t>Block 1</a:t>
            </a:r>
          </a:p>
          <a:p>
            <a:pPr algn="ctr"/>
            <a:r>
              <a:rPr sz="1400">
                <a:solidFill>
                  <a:srgbClr val="1F2A44"/>
                </a:solidFill>
              </a:rPr>
              <a:t>48×48×16</a:t>
            </a:r>
          </a:p>
        </p:txBody>
      </p:sp>
      <p:sp>
        <p:nvSpPr>
          <p:cNvPr id="17" name="Right Arrow 16"/>
          <p:cNvSpPr/>
          <p:nvPr/>
        </p:nvSpPr>
        <p:spPr>
          <a:xfrm>
            <a:off x="3072384" y="5330952"/>
            <a:ext cx="201168" cy="219456"/>
          </a:xfrm>
          <a:prstGeom prst="rightArrow">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00984" y="4937760"/>
            <a:ext cx="1188720" cy="1005840"/>
          </a:xfrm>
          <a:prstGeom prst="roundRect">
            <a:avLst/>
          </a:prstGeom>
          <a:solidFill>
            <a:srgbClr val="F2F4F7"/>
          </a:solidFill>
          <a:ln>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rPr>
              <a:t>Block 2</a:t>
            </a:r>
          </a:p>
          <a:p>
            <a:pPr algn="ctr"/>
            <a:r>
              <a:rPr sz="1400">
                <a:solidFill>
                  <a:srgbClr val="1F2A44"/>
                </a:solidFill>
              </a:rPr>
              <a:t>24×24×32</a:t>
            </a:r>
          </a:p>
        </p:txBody>
      </p:sp>
      <p:sp>
        <p:nvSpPr>
          <p:cNvPr id="19" name="Right Arrow 18"/>
          <p:cNvSpPr/>
          <p:nvPr/>
        </p:nvSpPr>
        <p:spPr>
          <a:xfrm>
            <a:off x="4517136" y="5330952"/>
            <a:ext cx="201168" cy="219456"/>
          </a:xfrm>
          <a:prstGeom prst="rightArrow">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745736" y="4937760"/>
            <a:ext cx="1188720" cy="1005840"/>
          </a:xfrm>
          <a:prstGeom prst="roundRect">
            <a:avLst/>
          </a:prstGeom>
          <a:solidFill>
            <a:srgbClr val="F2F4F7"/>
          </a:solidFill>
          <a:ln>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rPr>
              <a:t>Block 3</a:t>
            </a:r>
          </a:p>
          <a:p>
            <a:pPr algn="ctr"/>
            <a:r>
              <a:rPr sz="1400">
                <a:solidFill>
                  <a:srgbClr val="1F2A44"/>
                </a:solidFill>
              </a:rPr>
              <a:t>12×12×64</a:t>
            </a:r>
          </a:p>
        </p:txBody>
      </p:sp>
      <p:sp>
        <p:nvSpPr>
          <p:cNvPr id="21" name="Right Arrow 20"/>
          <p:cNvSpPr/>
          <p:nvPr/>
        </p:nvSpPr>
        <p:spPr>
          <a:xfrm>
            <a:off x="5961888" y="5330952"/>
            <a:ext cx="201168" cy="219456"/>
          </a:xfrm>
          <a:prstGeom prst="rightArrow">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90488" y="4937760"/>
            <a:ext cx="1188720" cy="1005840"/>
          </a:xfrm>
          <a:prstGeom prst="roundRect">
            <a:avLst/>
          </a:prstGeom>
          <a:solidFill>
            <a:srgbClr val="F2F4F7"/>
          </a:solidFill>
          <a:ln>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rPr>
              <a:t>Block 4</a:t>
            </a:r>
          </a:p>
          <a:p>
            <a:pPr algn="ctr"/>
            <a:r>
              <a:rPr sz="1400">
                <a:solidFill>
                  <a:srgbClr val="1F2A44"/>
                </a:solidFill>
              </a:rPr>
              <a:t>6×6×128</a:t>
            </a:r>
          </a:p>
        </p:txBody>
      </p:sp>
      <p:sp>
        <p:nvSpPr>
          <p:cNvPr id="23" name="Right Arrow 22"/>
          <p:cNvSpPr/>
          <p:nvPr/>
        </p:nvSpPr>
        <p:spPr>
          <a:xfrm>
            <a:off x="7406640" y="5330952"/>
            <a:ext cx="201168" cy="219456"/>
          </a:xfrm>
          <a:prstGeom prst="rightArrow">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635240" y="4937760"/>
            <a:ext cx="1188720" cy="1005840"/>
          </a:xfrm>
          <a:prstGeom prst="roundRect">
            <a:avLst/>
          </a:prstGeom>
          <a:solidFill>
            <a:srgbClr val="F2F4F7"/>
          </a:solidFill>
          <a:ln>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rPr>
              <a:t>Flatten</a:t>
            </a:r>
          </a:p>
          <a:p>
            <a:pPr algn="ctr"/>
            <a:r>
              <a:rPr sz="1400">
                <a:solidFill>
                  <a:srgbClr val="1F2A44"/>
                </a:solidFill>
              </a:rPr>
              <a:t>4,608</a:t>
            </a:r>
          </a:p>
        </p:txBody>
      </p:sp>
      <p:sp>
        <p:nvSpPr>
          <p:cNvPr id="25" name="Right Arrow 24"/>
          <p:cNvSpPr/>
          <p:nvPr/>
        </p:nvSpPr>
        <p:spPr>
          <a:xfrm>
            <a:off x="8851392" y="5330952"/>
            <a:ext cx="201168" cy="219456"/>
          </a:xfrm>
          <a:prstGeom prst="rightArrow">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079992" y="4937760"/>
            <a:ext cx="1188720" cy="1005840"/>
          </a:xfrm>
          <a:prstGeom prst="roundRect">
            <a:avLst/>
          </a:prstGeom>
          <a:solidFill>
            <a:srgbClr val="F2F4F7"/>
          </a:solidFill>
          <a:ln>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rPr>
              <a:t>Dense</a:t>
            </a:r>
          </a:p>
          <a:p>
            <a:pPr algn="ctr"/>
            <a:r>
              <a:rPr sz="1400">
                <a:solidFill>
                  <a:srgbClr val="1F2A44"/>
                </a:solidFill>
              </a:rPr>
              <a:t>64</a:t>
            </a:r>
          </a:p>
        </p:txBody>
      </p:sp>
      <p:sp>
        <p:nvSpPr>
          <p:cNvPr id="27" name="Right Arrow 26"/>
          <p:cNvSpPr/>
          <p:nvPr/>
        </p:nvSpPr>
        <p:spPr>
          <a:xfrm>
            <a:off x="10296144" y="5330952"/>
            <a:ext cx="201168" cy="219456"/>
          </a:xfrm>
          <a:prstGeom prst="rightArrow">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524744" y="4937760"/>
            <a:ext cx="1188720" cy="1005840"/>
          </a:xfrm>
          <a:prstGeom prst="roundRect">
            <a:avLst/>
          </a:prstGeom>
          <a:solidFill>
            <a:srgbClr val="1F2A44"/>
          </a:solidFill>
          <a:ln>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Output</a:t>
            </a:r>
          </a:p>
          <a:p>
            <a:pPr algn="ctr"/>
            <a:r>
              <a:rPr sz="1400">
                <a:solidFill>
                  <a:srgbClr val="FFFFFF"/>
                </a:solidFill>
              </a:rPr>
              <a:t>P(dog)</a:t>
            </a:r>
          </a:p>
        </p:txBody>
      </p:sp>
      <p:sp>
        <p:nvSpPr>
          <p:cNvPr id="29" name="TextBox 28"/>
          <p:cNvSpPr txBox="1"/>
          <p:nvPr/>
        </p:nvSpPr>
        <p:spPr>
          <a:xfrm>
            <a:off x="411480" y="6035040"/>
            <a:ext cx="11338560" cy="457200"/>
          </a:xfrm>
          <a:prstGeom prst="rect">
            <a:avLst/>
          </a:prstGeom>
          <a:noFill/>
        </p:spPr>
        <p:txBody>
          <a:bodyPr wrap="square">
            <a:spAutoFit/>
          </a:bodyPr>
          <a:lstStyle/>
          <a:p>
            <a:pPr algn="l">
              <a:spcAft>
                <a:spcPts val="800"/>
              </a:spcAft>
            </a:pPr>
            <a:r>
              <a:rPr sz="1400" b="0">
                <a:solidFill>
                  <a:srgbClr val="555B66"/>
                </a:solidFill>
              </a:rPr>
              <a:t>Each block = Conv 3×3 → ReLU → MaxPool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The dataset</a:t>
            </a:r>
          </a:p>
        </p:txBody>
      </p:sp>
      <p:sp>
        <p:nvSpPr>
          <p:cNvPr id="5" name="TextBox 4"/>
          <p:cNvSpPr txBox="1"/>
          <p:nvPr/>
        </p:nvSpPr>
        <p:spPr>
          <a:xfrm>
            <a:off x="457200" y="1143000"/>
            <a:ext cx="11247120" cy="548640"/>
          </a:xfrm>
          <a:prstGeom prst="rect">
            <a:avLst/>
          </a:prstGeom>
          <a:noFill/>
        </p:spPr>
        <p:txBody>
          <a:bodyPr wrap="square">
            <a:spAutoFit/>
          </a:bodyPr>
          <a:lstStyle/>
          <a:p>
            <a:pPr algn="l">
              <a:spcAft>
                <a:spcPts val="800"/>
              </a:spcAft>
            </a:pPr>
            <a:r>
              <a:rPr sz="1700" b="0">
                <a:solidFill>
                  <a:srgbClr val="555B66"/>
                </a:solidFill>
              </a:rPr>
              <a:t>cats_and_dogs_filtered (Kaggle Dogs vs. Cats subset), perfectly balanced</a:t>
            </a:r>
          </a:p>
        </p:txBody>
      </p:sp>
      <p:graphicFrame>
        <p:nvGraphicFramePr>
          <p:cNvPr id="6" name="Table 5"/>
          <p:cNvGraphicFramePr>
            <a:graphicFrameLocks noGrp="1"/>
          </p:cNvGraphicFramePr>
          <p:nvPr/>
        </p:nvGraphicFramePr>
        <p:xfrm>
          <a:off x="548640" y="1920240"/>
          <a:ext cx="4754880" cy="1536192"/>
        </p:xfrm>
        <a:graphic>
          <a:graphicData uri="http://schemas.openxmlformats.org/drawingml/2006/table">
            <a:tbl>
              <a:tblPr firstRow="1" bandRow="1">
                <a:tableStyleId>{5C22544A-7EE6-4342-B048-85BDC9FD1C3A}</a:tableStyleId>
              </a:tblPr>
              <a:tblGrid>
                <a:gridCol w="1188720"/>
                <a:gridCol w="731520"/>
                <a:gridCol w="731520"/>
                <a:gridCol w="2103120"/>
              </a:tblGrid>
              <a:tr h="384048">
                <a:tc>
                  <a:txBody>
                    <a:bodyPr/>
                    <a:lstStyle/>
                    <a:p>
                      <a:r>
                        <a:rPr sz="1500" b="1"/>
                        <a:t>Split</a:t>
                      </a:r>
                    </a:p>
                  </a:txBody>
                  <a:tcPr/>
                </a:tc>
                <a:tc>
                  <a:txBody>
                    <a:bodyPr/>
                    <a:lstStyle/>
                    <a:p>
                      <a:r>
                        <a:rPr sz="1500" b="1"/>
                        <a:t>Cats</a:t>
                      </a:r>
                    </a:p>
                  </a:txBody>
                  <a:tcPr/>
                </a:tc>
                <a:tc>
                  <a:txBody>
                    <a:bodyPr/>
                    <a:lstStyle/>
                    <a:p>
                      <a:r>
                        <a:rPr sz="1500" b="1"/>
                        <a:t>Dogs</a:t>
                      </a:r>
                    </a:p>
                  </a:txBody>
                  <a:tcPr/>
                </a:tc>
                <a:tc>
                  <a:txBody>
                    <a:bodyPr/>
                    <a:lstStyle/>
                    <a:p>
                      <a:r>
                        <a:rPr sz="1500" b="1"/>
                        <a:t>Role</a:t>
                      </a:r>
                    </a:p>
                  </a:txBody>
                  <a:tcPr/>
                </a:tc>
              </a:tr>
              <a:tr h="384048">
                <a:tc>
                  <a:txBody>
                    <a:bodyPr/>
                    <a:lstStyle/>
                    <a:p>
                      <a:r>
                        <a:rPr sz="1500" b="0"/>
                        <a:t>Train</a:t>
                      </a:r>
                    </a:p>
                  </a:txBody>
                  <a:tcPr/>
                </a:tc>
                <a:tc>
                  <a:txBody>
                    <a:bodyPr/>
                    <a:lstStyle/>
                    <a:p>
                      <a:r>
                        <a:rPr sz="1500" b="0"/>
                        <a:t>800</a:t>
                      </a:r>
                    </a:p>
                  </a:txBody>
                  <a:tcPr/>
                </a:tc>
                <a:tc>
                  <a:txBody>
                    <a:bodyPr/>
                    <a:lstStyle/>
                    <a:p>
                      <a:r>
                        <a:rPr sz="1500" b="0"/>
                        <a:t>800</a:t>
                      </a:r>
                    </a:p>
                  </a:txBody>
                  <a:tcPr/>
                </a:tc>
                <a:tc>
                  <a:txBody>
                    <a:bodyPr/>
                    <a:lstStyle/>
                    <a:p>
                      <a:r>
                        <a:rPr sz="1500" b="0"/>
                        <a:t>learn weights</a:t>
                      </a:r>
                    </a:p>
                  </a:txBody>
                  <a:tcPr/>
                </a:tc>
              </a:tr>
              <a:tr h="384048">
                <a:tc>
                  <a:txBody>
                    <a:bodyPr/>
                    <a:lstStyle/>
                    <a:p>
                      <a:r>
                        <a:rPr sz="1500" b="0"/>
                        <a:t>Validation</a:t>
                      </a:r>
                    </a:p>
                  </a:txBody>
                  <a:tcPr/>
                </a:tc>
                <a:tc>
                  <a:txBody>
                    <a:bodyPr/>
                    <a:lstStyle/>
                    <a:p>
                      <a:r>
                        <a:rPr sz="1500" b="0"/>
                        <a:t>500</a:t>
                      </a:r>
                    </a:p>
                  </a:txBody>
                  <a:tcPr/>
                </a:tc>
                <a:tc>
                  <a:txBody>
                    <a:bodyPr/>
                    <a:lstStyle/>
                    <a:p>
                      <a:r>
                        <a:rPr sz="1500" b="0"/>
                        <a:t>500</a:t>
                      </a:r>
                    </a:p>
                  </a:txBody>
                  <a:tcPr/>
                </a:tc>
                <a:tc>
                  <a:txBody>
                    <a:bodyPr/>
                    <a:lstStyle/>
                    <a:p>
                      <a:r>
                        <a:rPr sz="1500" b="0"/>
                        <a:t>pick best epoch / model</a:t>
                      </a:r>
                    </a:p>
                  </a:txBody>
                  <a:tcPr/>
                </a:tc>
              </a:tr>
              <a:tr h="384048">
                <a:tc>
                  <a:txBody>
                    <a:bodyPr/>
                    <a:lstStyle/>
                    <a:p>
                      <a:r>
                        <a:rPr sz="1500" b="0"/>
                        <a:t>Test</a:t>
                      </a:r>
                    </a:p>
                  </a:txBody>
                  <a:tcPr/>
                </a:tc>
                <a:tc>
                  <a:txBody>
                    <a:bodyPr/>
                    <a:lstStyle/>
                    <a:p>
                      <a:r>
                        <a:rPr sz="1500" b="0"/>
                        <a:t>200</a:t>
                      </a:r>
                    </a:p>
                  </a:txBody>
                  <a:tcPr/>
                </a:tc>
                <a:tc>
                  <a:txBody>
                    <a:bodyPr/>
                    <a:lstStyle/>
                    <a:p>
                      <a:r>
                        <a:rPr sz="1500" b="0"/>
                        <a:t>200</a:t>
                      </a:r>
                    </a:p>
                  </a:txBody>
                  <a:tcPr/>
                </a:tc>
                <a:tc>
                  <a:txBody>
                    <a:bodyPr/>
                    <a:lstStyle/>
                    <a:p>
                      <a:r>
                        <a:rPr sz="1500" b="0"/>
                        <a:t>final score, used once</a:t>
                      </a:r>
                    </a:p>
                  </a:txBody>
                  <a:tcPr/>
                </a:tc>
              </a:tr>
            </a:tbl>
          </a:graphicData>
        </a:graphic>
      </p:graphicFrame>
      <p:sp>
        <p:nvSpPr>
          <p:cNvPr id="7" name="TextBox 6"/>
          <p:cNvSpPr txBox="1"/>
          <p:nvPr/>
        </p:nvSpPr>
        <p:spPr>
          <a:xfrm>
            <a:off x="548640" y="3840480"/>
            <a:ext cx="4754880" cy="2286000"/>
          </a:xfrm>
          <a:prstGeom prst="rect">
            <a:avLst/>
          </a:prstGeom>
          <a:noFill/>
        </p:spPr>
        <p:txBody>
          <a:bodyPr wrap="square">
            <a:spAutoFit/>
          </a:bodyPr>
          <a:lstStyle/>
          <a:p>
            <a:pPr algn="l">
              <a:spcAft>
                <a:spcPts val="800"/>
              </a:spcAft>
            </a:pPr>
            <a:r>
              <a:rPr sz="1600" b="0">
                <a:solidFill>
                  <a:srgbClr val="1F2A44"/>
                </a:solidFill>
              </a:rPr>
              <a:t>•  Train + test = original 2,000 training images, split 80/20 with stratification</a:t>
            </a:r>
          </a:p>
          <a:p>
            <a:pPr algn="l">
              <a:spcAft>
                <a:spcPts val="800"/>
              </a:spcAft>
            </a:pPr>
            <a:r>
              <a:rPr sz="1600" b="0">
                <a:solidFill>
                  <a:srgbClr val="1F2A44"/>
                </a:solidFill>
              </a:rPr>
              <a:t>•  Labels: cat = 0, dog = 1</a:t>
            </a:r>
          </a:p>
          <a:p>
            <a:pPr algn="l">
              <a:spcAft>
                <a:spcPts val="800"/>
              </a:spcAft>
            </a:pPr>
            <a:r>
              <a:rPr sz="1600" b="0">
                <a:solidFill>
                  <a:srgbClr val="1F2A44"/>
                </a:solidFill>
              </a:rPr>
              <a:t>•  No image is used for both training and evaluation</a:t>
            </a:r>
          </a:p>
        </p:txBody>
      </p:sp>
      <p:pic>
        <p:nvPicPr>
          <p:cNvPr id="8" name="Picture 7" descr="samples.png"/>
          <p:cNvPicPr>
            <a:picLocks noChangeAspect="1"/>
          </p:cNvPicPr>
          <p:nvPr/>
        </p:nvPicPr>
        <p:blipFill>
          <a:blip r:embed="rId3"/>
          <a:stretch>
            <a:fillRect/>
          </a:stretch>
        </p:blipFill>
        <p:spPr>
          <a:xfrm>
            <a:off x="5577840" y="2488205"/>
            <a:ext cx="6400800" cy="325319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Input shape: before and after resizing</a:t>
            </a:r>
          </a:p>
        </p:txBody>
      </p:sp>
      <p:sp>
        <p:nvSpPr>
          <p:cNvPr id="5" name="TextBox 4"/>
          <p:cNvSpPr txBox="1"/>
          <p:nvPr/>
        </p:nvSpPr>
        <p:spPr>
          <a:xfrm>
            <a:off x="457200" y="1143000"/>
            <a:ext cx="11247120" cy="548640"/>
          </a:xfrm>
          <a:prstGeom prst="rect">
            <a:avLst/>
          </a:prstGeom>
          <a:noFill/>
        </p:spPr>
        <p:txBody>
          <a:bodyPr wrap="square">
            <a:spAutoFit/>
          </a:bodyPr>
          <a:lstStyle/>
          <a:p>
            <a:pPr algn="l">
              <a:spcAft>
                <a:spcPts val="800"/>
              </a:spcAft>
            </a:pPr>
            <a:r>
              <a:rPr sz="1700" b="0">
                <a:solidFill>
                  <a:srgbClr val="555B66"/>
                </a:solidFill>
              </a:rPr>
              <a:t>Raw images vary a lot; the network needs one fixed shape</a:t>
            </a:r>
          </a:p>
        </p:txBody>
      </p:sp>
      <p:pic>
        <p:nvPicPr>
          <p:cNvPr id="6" name="Picture 5" descr="sizes.png"/>
          <p:cNvPicPr>
            <a:picLocks noChangeAspect="1"/>
          </p:cNvPicPr>
          <p:nvPr/>
        </p:nvPicPr>
        <p:blipFill>
          <a:blip r:embed="rId3"/>
          <a:stretch>
            <a:fillRect/>
          </a:stretch>
        </p:blipFill>
        <p:spPr>
          <a:xfrm>
            <a:off x="457200" y="1707992"/>
            <a:ext cx="5669280" cy="4722176"/>
          </a:xfrm>
          <a:prstGeom prst="rect">
            <a:avLst/>
          </a:prstGeom>
        </p:spPr>
      </p:pic>
      <p:graphicFrame>
        <p:nvGraphicFramePr>
          <p:cNvPr id="7" name="Table 6"/>
          <p:cNvGraphicFramePr>
            <a:graphicFrameLocks noGrp="1"/>
          </p:cNvGraphicFramePr>
          <p:nvPr/>
        </p:nvGraphicFramePr>
        <p:xfrm>
          <a:off x="6492240" y="1920240"/>
          <a:ext cx="5120640" cy="1920240"/>
        </p:xfrm>
        <a:graphic>
          <a:graphicData uri="http://schemas.openxmlformats.org/drawingml/2006/table">
            <a:tbl>
              <a:tblPr firstRow="1" bandRow="1">
                <a:tableStyleId>{5C22544A-7EE6-4342-B048-85BDC9FD1C3A}</a:tableStyleId>
              </a:tblPr>
              <a:tblGrid>
                <a:gridCol w="1706880"/>
                <a:gridCol w="1706880"/>
                <a:gridCol w="1706880"/>
              </a:tblGrid>
              <a:tr h="384048">
                <a:tc>
                  <a:txBody>
                    <a:bodyPr/>
                    <a:lstStyle/>
                    <a:p>
                      <a:r>
                        <a:rPr sz="1600" b="1"/>
                        <a:t>Original size (px)</a:t>
                      </a:r>
                    </a:p>
                  </a:txBody>
                  <a:tcPr/>
                </a:tc>
                <a:tc>
                  <a:txBody>
                    <a:bodyPr/>
                    <a:lstStyle/>
                    <a:p>
                      <a:r>
                        <a:rPr sz="1600" b="1"/>
                        <a:t>Width</a:t>
                      </a:r>
                    </a:p>
                  </a:txBody>
                  <a:tcPr/>
                </a:tc>
                <a:tc>
                  <a:txBody>
                    <a:bodyPr/>
                    <a:lstStyle/>
                    <a:p>
                      <a:r>
                        <a:rPr sz="1600" b="1"/>
                        <a:t>Height</a:t>
                      </a:r>
                    </a:p>
                  </a:txBody>
                  <a:tcPr/>
                </a:tc>
              </a:tr>
              <a:tr h="384048">
                <a:tc>
                  <a:txBody>
                    <a:bodyPr/>
                    <a:lstStyle/>
                    <a:p>
                      <a:r>
                        <a:rPr sz="1600" b="0"/>
                        <a:t>Mean</a:t>
                      </a:r>
                    </a:p>
                  </a:txBody>
                  <a:tcPr/>
                </a:tc>
                <a:tc>
                  <a:txBody>
                    <a:bodyPr/>
                    <a:lstStyle/>
                    <a:p>
                      <a:r>
                        <a:rPr sz="1600" b="0"/>
                        <a:t>406</a:t>
                      </a:r>
                    </a:p>
                  </a:txBody>
                  <a:tcPr/>
                </a:tc>
                <a:tc>
                  <a:txBody>
                    <a:bodyPr/>
                    <a:lstStyle/>
                    <a:p>
                      <a:r>
                        <a:rPr sz="1600" b="0"/>
                        <a:t>360</a:t>
                      </a:r>
                    </a:p>
                  </a:txBody>
                  <a:tcPr/>
                </a:tc>
              </a:tr>
              <a:tr h="384048">
                <a:tc>
                  <a:txBody>
                    <a:bodyPr/>
                    <a:lstStyle/>
                    <a:p>
                      <a:r>
                        <a:rPr sz="1600" b="0"/>
                        <a:t>Min</a:t>
                      </a:r>
                    </a:p>
                  </a:txBody>
                  <a:tcPr/>
                </a:tc>
                <a:tc>
                  <a:txBody>
                    <a:bodyPr/>
                    <a:lstStyle/>
                    <a:p>
                      <a:r>
                        <a:rPr sz="1600" b="0"/>
                        <a:t>59</a:t>
                      </a:r>
                    </a:p>
                  </a:txBody>
                  <a:tcPr/>
                </a:tc>
                <a:tc>
                  <a:txBody>
                    <a:bodyPr/>
                    <a:lstStyle/>
                    <a:p>
                      <a:r>
                        <a:rPr sz="1600" b="0"/>
                        <a:t>41</a:t>
                      </a:r>
                    </a:p>
                  </a:txBody>
                  <a:tcPr/>
                </a:tc>
              </a:tr>
              <a:tr h="384048">
                <a:tc>
                  <a:txBody>
                    <a:bodyPr/>
                    <a:lstStyle/>
                    <a:p>
                      <a:r>
                        <a:rPr sz="1600" b="0"/>
                        <a:t>Median</a:t>
                      </a:r>
                    </a:p>
                  </a:txBody>
                  <a:tcPr/>
                </a:tc>
                <a:tc>
                  <a:txBody>
                    <a:bodyPr/>
                    <a:lstStyle/>
                    <a:p>
                      <a:r>
                        <a:rPr sz="1600" b="0"/>
                        <a:t>447</a:t>
                      </a:r>
                    </a:p>
                  </a:txBody>
                  <a:tcPr/>
                </a:tc>
                <a:tc>
                  <a:txBody>
                    <a:bodyPr/>
                    <a:lstStyle/>
                    <a:p>
                      <a:r>
                        <a:rPr sz="1600" b="0"/>
                        <a:t>374</a:t>
                      </a:r>
                    </a:p>
                  </a:txBody>
                  <a:tcPr/>
                </a:tc>
              </a:tr>
              <a:tr h="384048">
                <a:tc>
                  <a:txBody>
                    <a:bodyPr/>
                    <a:lstStyle/>
                    <a:p>
                      <a:r>
                        <a:rPr sz="1600" b="0"/>
                        <a:t>Max</a:t>
                      </a:r>
                    </a:p>
                  </a:txBody>
                  <a:tcPr/>
                </a:tc>
                <a:tc>
                  <a:txBody>
                    <a:bodyPr/>
                    <a:lstStyle/>
                    <a:p>
                      <a:r>
                        <a:rPr sz="1600" b="0"/>
                        <a:t>1050</a:t>
                      </a:r>
                    </a:p>
                  </a:txBody>
                  <a:tcPr/>
                </a:tc>
                <a:tc>
                  <a:txBody>
                    <a:bodyPr/>
                    <a:lstStyle/>
                    <a:p>
                      <a:r>
                        <a:rPr sz="1600" b="0"/>
                        <a:t>768</a:t>
                      </a:r>
                    </a:p>
                  </a:txBody>
                  <a:tcPr/>
                </a:tc>
              </a:tr>
            </a:tbl>
          </a:graphicData>
        </a:graphic>
      </p:graphicFrame>
      <p:sp>
        <p:nvSpPr>
          <p:cNvPr id="8" name="TextBox 7"/>
          <p:cNvSpPr txBox="1"/>
          <p:nvPr/>
        </p:nvSpPr>
        <p:spPr>
          <a:xfrm>
            <a:off x="6492240" y="4114800"/>
            <a:ext cx="5303520" cy="2377440"/>
          </a:xfrm>
          <a:prstGeom prst="rect">
            <a:avLst/>
          </a:prstGeom>
          <a:noFill/>
        </p:spPr>
        <p:txBody>
          <a:bodyPr wrap="square">
            <a:spAutoFit/>
          </a:bodyPr>
          <a:lstStyle/>
          <a:p>
            <a:pPr algn="l">
              <a:spcAft>
                <a:spcPts val="800"/>
              </a:spcAft>
            </a:pPr>
            <a:r>
              <a:rPr sz="1700" b="0">
                <a:solidFill>
                  <a:srgbClr val="1F2A44"/>
                </a:solidFill>
              </a:rPr>
              <a:t>•  1,604 distinct sizes across 3,000 images</a:t>
            </a:r>
          </a:p>
          <a:p>
            <a:pPr algn="l">
              <a:spcAft>
                <a:spcPts val="800"/>
              </a:spcAft>
            </a:pPr>
            <a:r>
              <a:rPr sz="1700" b="0">
                <a:solidFill>
                  <a:srgbClr val="1F2A44"/>
                </a:solidFill>
              </a:rPr>
              <a:t>•  Median aspect ratio 1.29 (landscape)</a:t>
            </a:r>
          </a:p>
          <a:p>
            <a:pPr algn="l">
              <a:spcAft>
                <a:spcPts val="800"/>
              </a:spcAft>
            </a:pPr>
            <a:r>
              <a:rPr sz="1700" b="0">
                <a:solidFill>
                  <a:srgbClr val="1F2A44"/>
                </a:solidFill>
              </a:rPr>
              <a:t>•  Resized to 96 × 96 × 3 (RGB), pixels scaled to [0, 1]</a:t>
            </a:r>
          </a:p>
          <a:p>
            <a:pPr algn="l">
              <a:spcAft>
                <a:spcPts val="800"/>
              </a:spcAft>
            </a:pPr>
            <a:r>
              <a:rPr sz="1700" b="0">
                <a:solidFill>
                  <a:srgbClr val="1F2A44"/>
                </a:solidFill>
              </a:rPr>
              <a:t>•  Trade-off: fast CPU training vs. lost detail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Our CNN: 4 blocks, 392,481 parameters</a:t>
            </a:r>
          </a:p>
        </p:txBody>
      </p:sp>
      <p:sp>
        <p:nvSpPr>
          <p:cNvPr id="5" name="TextBox 4"/>
          <p:cNvSpPr txBox="1"/>
          <p:nvPr/>
        </p:nvSpPr>
        <p:spPr>
          <a:xfrm>
            <a:off x="457200" y="1143000"/>
            <a:ext cx="11247120" cy="548640"/>
          </a:xfrm>
          <a:prstGeom prst="rect">
            <a:avLst/>
          </a:prstGeom>
          <a:noFill/>
        </p:spPr>
        <p:txBody>
          <a:bodyPr wrap="square">
            <a:spAutoFit/>
          </a:bodyPr>
          <a:lstStyle/>
          <a:p>
            <a:pPr algn="l">
              <a:spcAft>
                <a:spcPts val="800"/>
              </a:spcAft>
            </a:pPr>
            <a:r>
              <a:rPr sz="1700" b="0">
                <a:solidFill>
                  <a:srgbClr val="555B66"/>
                </a:solidFill>
              </a:rPr>
              <a:t>Parameters computed by hand: (3·3·Cin + 1)·Cout for convolutions, (nin + 1)·nout for dense layers</a:t>
            </a:r>
          </a:p>
        </p:txBody>
      </p:sp>
      <p:graphicFrame>
        <p:nvGraphicFramePr>
          <p:cNvPr id="6" name="Table 5"/>
          <p:cNvGraphicFramePr>
            <a:graphicFrameLocks noGrp="1"/>
          </p:cNvGraphicFramePr>
          <p:nvPr/>
        </p:nvGraphicFramePr>
        <p:xfrm>
          <a:off x="548640" y="1828800"/>
          <a:ext cx="6583680" cy="3072384"/>
        </p:xfrm>
        <a:graphic>
          <a:graphicData uri="http://schemas.openxmlformats.org/drawingml/2006/table">
            <a:tbl>
              <a:tblPr firstRow="1" bandRow="1">
                <a:tableStyleId>{5C22544A-7EE6-4342-B048-85BDC9FD1C3A}</a:tableStyleId>
              </a:tblPr>
              <a:tblGrid>
                <a:gridCol w="1645920"/>
                <a:gridCol w="3108960"/>
                <a:gridCol w="1828800"/>
              </a:tblGrid>
              <a:tr h="384048">
                <a:tc>
                  <a:txBody>
                    <a:bodyPr/>
                    <a:lstStyle/>
                    <a:p>
                      <a:r>
                        <a:rPr sz="1500" b="1"/>
                        <a:t>Layer</a:t>
                      </a:r>
                    </a:p>
                  </a:txBody>
                  <a:tcPr/>
                </a:tc>
                <a:tc>
                  <a:txBody>
                    <a:bodyPr/>
                    <a:lstStyle/>
                    <a:p>
                      <a:r>
                        <a:rPr sz="1500" b="1"/>
                        <a:t>Calculation</a:t>
                      </a:r>
                    </a:p>
                  </a:txBody>
                  <a:tcPr/>
                </a:tc>
                <a:tc>
                  <a:txBody>
                    <a:bodyPr/>
                    <a:lstStyle/>
                    <a:p>
                      <a:r>
                        <a:rPr sz="1500" b="1"/>
                        <a:t>Parameters</a:t>
                      </a:r>
                    </a:p>
                  </a:txBody>
                  <a:tcPr/>
                </a:tc>
              </a:tr>
              <a:tr h="384048">
                <a:tc>
                  <a:txBody>
                    <a:bodyPr/>
                    <a:lstStyle/>
                    <a:p>
                      <a:r>
                        <a:rPr sz="1500" b="0"/>
                        <a:t>Conv 16</a:t>
                      </a:r>
                    </a:p>
                  </a:txBody>
                  <a:tcPr/>
                </a:tc>
                <a:tc>
                  <a:txBody>
                    <a:bodyPr/>
                    <a:lstStyle/>
                    <a:p>
                      <a:r>
                        <a:rPr sz="1500" b="0"/>
                        <a:t>(3·3·3 + 1)·16</a:t>
                      </a:r>
                    </a:p>
                  </a:txBody>
                  <a:tcPr/>
                </a:tc>
                <a:tc>
                  <a:txBody>
                    <a:bodyPr/>
                    <a:lstStyle/>
                    <a:p>
                      <a:r>
                        <a:rPr sz="1500" b="0"/>
                        <a:t>448</a:t>
                      </a:r>
                    </a:p>
                  </a:txBody>
                  <a:tcPr/>
                </a:tc>
              </a:tr>
              <a:tr h="384048">
                <a:tc>
                  <a:txBody>
                    <a:bodyPr/>
                    <a:lstStyle/>
                    <a:p>
                      <a:r>
                        <a:rPr sz="1500" b="0"/>
                        <a:t>Conv 32</a:t>
                      </a:r>
                    </a:p>
                  </a:txBody>
                  <a:tcPr/>
                </a:tc>
                <a:tc>
                  <a:txBody>
                    <a:bodyPr/>
                    <a:lstStyle/>
                    <a:p>
                      <a:r>
                        <a:rPr sz="1500" b="0"/>
                        <a:t>(3·3·16 + 1)·32</a:t>
                      </a:r>
                    </a:p>
                  </a:txBody>
                  <a:tcPr/>
                </a:tc>
                <a:tc>
                  <a:txBody>
                    <a:bodyPr/>
                    <a:lstStyle/>
                    <a:p>
                      <a:r>
                        <a:rPr sz="1500" b="0"/>
                        <a:t>4,640</a:t>
                      </a:r>
                    </a:p>
                  </a:txBody>
                  <a:tcPr/>
                </a:tc>
              </a:tr>
              <a:tr h="384048">
                <a:tc>
                  <a:txBody>
                    <a:bodyPr/>
                    <a:lstStyle/>
                    <a:p>
                      <a:r>
                        <a:rPr sz="1500" b="0"/>
                        <a:t>Conv 64</a:t>
                      </a:r>
                    </a:p>
                  </a:txBody>
                  <a:tcPr/>
                </a:tc>
                <a:tc>
                  <a:txBody>
                    <a:bodyPr/>
                    <a:lstStyle/>
                    <a:p>
                      <a:r>
                        <a:rPr sz="1500" b="0"/>
                        <a:t>(3·3·32 + 1)·64</a:t>
                      </a:r>
                    </a:p>
                  </a:txBody>
                  <a:tcPr/>
                </a:tc>
                <a:tc>
                  <a:txBody>
                    <a:bodyPr/>
                    <a:lstStyle/>
                    <a:p>
                      <a:r>
                        <a:rPr sz="1500" b="0"/>
                        <a:t>18,496</a:t>
                      </a:r>
                    </a:p>
                  </a:txBody>
                  <a:tcPr/>
                </a:tc>
              </a:tr>
              <a:tr h="384048">
                <a:tc>
                  <a:txBody>
                    <a:bodyPr/>
                    <a:lstStyle/>
                    <a:p>
                      <a:r>
                        <a:rPr sz="1500" b="0"/>
                        <a:t>Conv 128</a:t>
                      </a:r>
                    </a:p>
                  </a:txBody>
                  <a:tcPr/>
                </a:tc>
                <a:tc>
                  <a:txBody>
                    <a:bodyPr/>
                    <a:lstStyle/>
                    <a:p>
                      <a:r>
                        <a:rPr sz="1500" b="0"/>
                        <a:t>(3·3·64 + 1)·128</a:t>
                      </a:r>
                    </a:p>
                  </a:txBody>
                  <a:tcPr/>
                </a:tc>
                <a:tc>
                  <a:txBody>
                    <a:bodyPr/>
                    <a:lstStyle/>
                    <a:p>
                      <a:r>
                        <a:rPr sz="1500" b="0"/>
                        <a:t>73,856</a:t>
                      </a:r>
                    </a:p>
                  </a:txBody>
                  <a:tcPr/>
                </a:tc>
              </a:tr>
              <a:tr h="384048">
                <a:tc>
                  <a:txBody>
                    <a:bodyPr/>
                    <a:lstStyle/>
                    <a:p>
                      <a:r>
                        <a:rPr sz="1500" b="0"/>
                        <a:t>Dense 64</a:t>
                      </a:r>
                    </a:p>
                  </a:txBody>
                  <a:tcPr/>
                </a:tc>
                <a:tc>
                  <a:txBody>
                    <a:bodyPr/>
                    <a:lstStyle/>
                    <a:p>
                      <a:r>
                        <a:rPr sz="1500" b="0"/>
                        <a:t>(4,608 + 1)·64</a:t>
                      </a:r>
                    </a:p>
                  </a:txBody>
                  <a:tcPr/>
                </a:tc>
                <a:tc>
                  <a:txBody>
                    <a:bodyPr/>
                    <a:lstStyle/>
                    <a:p>
                      <a:r>
                        <a:rPr sz="1500" b="0"/>
                        <a:t>294,976</a:t>
                      </a:r>
                    </a:p>
                  </a:txBody>
                  <a:tcPr/>
                </a:tc>
              </a:tr>
              <a:tr h="384048">
                <a:tc>
                  <a:txBody>
                    <a:bodyPr/>
                    <a:lstStyle/>
                    <a:p>
                      <a:r>
                        <a:rPr sz="1500" b="0"/>
                        <a:t>Output</a:t>
                      </a:r>
                    </a:p>
                  </a:txBody>
                  <a:tcPr/>
                </a:tc>
                <a:tc>
                  <a:txBody>
                    <a:bodyPr/>
                    <a:lstStyle/>
                    <a:p>
                      <a:r>
                        <a:rPr sz="1500" b="0"/>
                        <a:t>(64 + 1)·1</a:t>
                      </a:r>
                    </a:p>
                  </a:txBody>
                  <a:tcPr/>
                </a:tc>
                <a:tc>
                  <a:txBody>
                    <a:bodyPr/>
                    <a:lstStyle/>
                    <a:p>
                      <a:r>
                        <a:rPr sz="1500" b="0"/>
                        <a:t>65</a:t>
                      </a:r>
                    </a:p>
                  </a:txBody>
                  <a:tcPr/>
                </a:tc>
              </a:tr>
              <a:tr h="384048">
                <a:tc>
                  <a:txBody>
                    <a:bodyPr/>
                    <a:lstStyle/>
                    <a:p>
                      <a:r>
                        <a:rPr sz="1500" b="1"/>
                        <a:t>Total</a:t>
                      </a:r>
                    </a:p>
                  </a:txBody>
                  <a:tcPr/>
                </a:tc>
                <a:tc>
                  <a:txBody>
                    <a:bodyPr/>
                    <a:lstStyle/>
                    <a:p>
                      <a:r>
                        <a:rPr sz="1500" b="0"/>
                        <a:t/>
                      </a:r>
                    </a:p>
                  </a:txBody>
                  <a:tcPr/>
                </a:tc>
                <a:tc>
                  <a:txBody>
                    <a:bodyPr/>
                    <a:lstStyle/>
                    <a:p>
                      <a:r>
                        <a:rPr sz="1500" b="1"/>
                        <a:t>392,481</a:t>
                      </a:r>
                    </a:p>
                  </a:txBody>
                  <a:tcPr/>
                </a:tc>
              </a:tr>
            </a:tbl>
          </a:graphicData>
        </a:graphic>
      </p:graphicFrame>
      <p:sp>
        <p:nvSpPr>
          <p:cNvPr id="7" name="TextBox 6"/>
          <p:cNvSpPr txBox="1"/>
          <p:nvPr/>
        </p:nvSpPr>
        <p:spPr>
          <a:xfrm>
            <a:off x="7589520" y="1828800"/>
            <a:ext cx="4206240" cy="4572000"/>
          </a:xfrm>
          <a:prstGeom prst="rect">
            <a:avLst/>
          </a:prstGeom>
          <a:noFill/>
        </p:spPr>
        <p:txBody>
          <a:bodyPr wrap="square">
            <a:spAutoFit/>
          </a:bodyPr>
          <a:lstStyle/>
          <a:p>
            <a:pPr algn="l">
              <a:spcAft>
                <a:spcPts val="800"/>
              </a:spcAft>
            </a:pPr>
            <a:r>
              <a:rPr sz="1700" b="0">
                <a:solidFill>
                  <a:srgbClr val="1F2A44"/>
                </a:solidFill>
              </a:rPr>
              <a:t>Compilation</a:t>
            </a:r>
          </a:p>
          <a:p>
            <a:pPr algn="l">
              <a:spcAft>
                <a:spcPts val="800"/>
              </a:spcAft>
            </a:pPr>
            <a:r>
              <a:rPr sz="1700" b="0">
                <a:solidFill>
                  <a:srgbClr val="1F2A44"/>
                </a:solidFill>
              </a:rPr>
              <a:t>•  Optimizer: Adam, learning rate 0.001, adapts the step size per weight</a:t>
            </a:r>
          </a:p>
          <a:p>
            <a:pPr algn="l">
              <a:spcAft>
                <a:spcPts val="800"/>
              </a:spcAft>
            </a:pPr>
            <a:r>
              <a:rPr sz="1700" b="0">
                <a:solidFill>
                  <a:srgbClr val="1F2A44"/>
                </a:solidFill>
              </a:rPr>
              <a:t>•  Loss: binary cross-entropy, matches a single sigmoid output for 2 classes</a:t>
            </a:r>
          </a:p>
          <a:p>
            <a:pPr algn="l">
              <a:spcAft>
                <a:spcPts val="800"/>
              </a:spcAft>
            </a:pPr>
            <a:r>
              <a:rPr sz="1700" b="0">
                <a:solidFill>
                  <a:srgbClr val="1F2A44"/>
                </a:solidFill>
              </a:rPr>
              <a:t>•  Metric: accuracy (balanced classes)</a:t>
            </a:r>
          </a:p>
          <a:p>
            <a:pPr algn="l">
              <a:spcAft>
                <a:spcPts val="800"/>
              </a:spcAft>
            </a:pPr>
            <a:r>
              <a:rPr sz="1700" b="0">
                <a:solidFill>
                  <a:srgbClr val="1F2A44"/>
                </a:solidFill>
              </a:rPr>
              <a:t/>
            </a:r>
          </a:p>
          <a:p>
            <a:pPr algn="l">
              <a:spcAft>
                <a:spcPts val="800"/>
              </a:spcAft>
            </a:pPr>
            <a:r>
              <a:rPr sz="1700" b="0">
                <a:solidFill>
                  <a:srgbClr val="1F2A44"/>
                </a:solidFill>
              </a:rPr>
              <a:t>Training</a:t>
            </a:r>
          </a:p>
          <a:p>
            <a:pPr algn="l">
              <a:spcAft>
                <a:spcPts val="800"/>
              </a:spcAft>
            </a:pPr>
            <a:r>
              <a:rPr sz="1700" b="0">
                <a:solidFill>
                  <a:srgbClr val="1F2A44"/>
                </a:solidFill>
              </a:rPr>
              <a:t>•  Batch size 100 → 16 updates per epoch</a:t>
            </a:r>
          </a:p>
          <a:p>
            <a:pPr algn="l">
              <a:spcAft>
                <a:spcPts val="800"/>
              </a:spcAft>
            </a:pPr>
            <a:r>
              <a:rPr sz="1700" b="0">
                <a:solidFill>
                  <a:srgbClr val="1F2A44"/>
                </a:solidFill>
              </a:rPr>
              <a:t>•  15 epochs, keep the epoch with lowest validation loss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Baseline training: overfitting after epoch 11</a:t>
            </a:r>
          </a:p>
        </p:txBody>
      </p:sp>
      <p:pic>
        <p:nvPicPr>
          <p:cNvPr id="5" name="Picture 4" descr="curves_baseline.png"/>
          <p:cNvPicPr>
            <a:picLocks noChangeAspect="1"/>
          </p:cNvPicPr>
          <p:nvPr/>
        </p:nvPicPr>
        <p:blipFill>
          <a:blip r:embed="rId3"/>
          <a:stretch>
            <a:fillRect/>
          </a:stretch>
        </p:blipFill>
        <p:spPr>
          <a:xfrm>
            <a:off x="365760" y="2156530"/>
            <a:ext cx="7680960" cy="2270620"/>
          </a:xfrm>
          <a:prstGeom prst="rect">
            <a:avLst/>
          </a:prstGeom>
        </p:spPr>
      </p:pic>
      <p:sp>
        <p:nvSpPr>
          <p:cNvPr id="6" name="TextBox 5"/>
          <p:cNvSpPr txBox="1"/>
          <p:nvPr/>
        </p:nvSpPr>
        <p:spPr>
          <a:xfrm>
            <a:off x="8229600" y="1554480"/>
            <a:ext cx="3657600" cy="5029200"/>
          </a:xfrm>
          <a:prstGeom prst="rect">
            <a:avLst/>
          </a:prstGeom>
          <a:noFill/>
        </p:spPr>
        <p:txBody>
          <a:bodyPr wrap="square">
            <a:spAutoFit/>
          </a:bodyPr>
          <a:lstStyle/>
          <a:p>
            <a:pPr algn="l">
              <a:spcAft>
                <a:spcPts val="800"/>
              </a:spcAft>
            </a:pPr>
            <a:r>
              <a:rPr sz="1800" b="0">
                <a:solidFill>
                  <a:srgbClr val="1F2A44"/>
                </a:solidFill>
              </a:rPr>
              <a:t>•  Best validation loss at epoch 11: 0.546 (72.7% accuracy)</a:t>
            </a:r>
          </a:p>
          <a:p>
            <a:pPr algn="l">
              <a:spcAft>
                <a:spcPts val="800"/>
              </a:spcAft>
            </a:pPr>
            <a:r>
              <a:rPr sz="1800" b="0">
                <a:solidFill>
                  <a:srgbClr val="1F2A44"/>
                </a:solidFill>
              </a:rPr>
              <a:t>•  Training accuracy keeps climbing to 84.5%</a:t>
            </a:r>
          </a:p>
          <a:p>
            <a:pPr algn="l">
              <a:spcAft>
                <a:spcPts val="800"/>
              </a:spcAft>
            </a:pPr>
            <a:r>
              <a:rPr sz="1800" b="0">
                <a:solidFill>
                  <a:srgbClr val="1F2A44"/>
                </a:solidFill>
              </a:rPr>
              <a:t>•  Gap train vs validation grows → overfitting</a:t>
            </a:r>
          </a:p>
          <a:p>
            <a:pPr algn="l">
              <a:spcAft>
                <a:spcPts val="800"/>
              </a:spcAft>
            </a:pPr>
            <a:r>
              <a:rPr sz="1800" b="0">
                <a:solidFill>
                  <a:srgbClr val="1F2A44"/>
                </a:solidFill>
              </a:rPr>
              <a:t>•  We restore the epoch 11 weights</a:t>
            </a:r>
          </a:p>
        </p:txBody>
      </p:sp>
      <p:sp>
        <p:nvSpPr>
          <p:cNvPr id="7" name="TextBox 6"/>
          <p:cNvSpPr txBox="1"/>
          <p:nvPr/>
        </p:nvSpPr>
        <p:spPr>
          <a:xfrm>
            <a:off x="548640" y="5486400"/>
            <a:ext cx="7315200" cy="914400"/>
          </a:xfrm>
          <a:prstGeom prst="rect">
            <a:avLst/>
          </a:prstGeom>
          <a:noFill/>
        </p:spPr>
        <p:txBody>
          <a:bodyPr wrap="square">
            <a:spAutoFit/>
          </a:bodyPr>
          <a:lstStyle/>
          <a:p>
            <a:pPr algn="l">
              <a:spcAft>
                <a:spcPts val="800"/>
              </a:spcAft>
            </a:pPr>
            <a:r>
              <a:rPr sz="2200" b="1">
                <a:solidFill>
                  <a:srgbClr val="E07A1F"/>
                </a:solidFill>
              </a:rPr>
              <a:t>Test set: 77.8% accuracy, F1 0.757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Improvement 1: data augmentation</a:t>
            </a:r>
          </a:p>
        </p:txBody>
      </p:sp>
      <p:pic>
        <p:nvPicPr>
          <p:cNvPr id="5" name="Picture 4" descr="curves_augmentation.png"/>
          <p:cNvPicPr>
            <a:picLocks noChangeAspect="1"/>
          </p:cNvPicPr>
          <p:nvPr/>
        </p:nvPicPr>
        <p:blipFill>
          <a:blip r:embed="rId3"/>
          <a:stretch>
            <a:fillRect/>
          </a:stretch>
        </p:blipFill>
        <p:spPr>
          <a:xfrm>
            <a:off x="365760" y="2166851"/>
            <a:ext cx="7680960" cy="2249978"/>
          </a:xfrm>
          <a:prstGeom prst="rect">
            <a:avLst/>
          </a:prstGeom>
        </p:spPr>
      </p:pic>
      <p:sp>
        <p:nvSpPr>
          <p:cNvPr id="6" name="TextBox 5"/>
          <p:cNvSpPr txBox="1"/>
          <p:nvPr/>
        </p:nvSpPr>
        <p:spPr>
          <a:xfrm>
            <a:off x="8229600" y="1554480"/>
            <a:ext cx="3657600" cy="5029200"/>
          </a:xfrm>
          <a:prstGeom prst="rect">
            <a:avLst/>
          </a:prstGeom>
          <a:noFill/>
        </p:spPr>
        <p:txBody>
          <a:bodyPr wrap="square">
            <a:spAutoFit/>
          </a:bodyPr>
          <a:lstStyle/>
          <a:p>
            <a:pPr algn="l">
              <a:spcAft>
                <a:spcPts val="800"/>
              </a:spcAft>
            </a:pPr>
            <a:r>
              <a:rPr sz="1800" b="0">
                <a:solidFill>
                  <a:srgbClr val="1F2A44"/>
                </a:solidFill>
              </a:rPr>
              <a:t>•  Random flip, rotation (±5%), zoom (±10%)</a:t>
            </a:r>
          </a:p>
          <a:p>
            <a:pPr algn="l">
              <a:spcAft>
                <a:spcPts val="800"/>
              </a:spcAft>
            </a:pPr>
            <a:r>
              <a:rPr sz="1800" b="0">
                <a:solidFill>
                  <a:srgbClr val="1F2A44"/>
                </a:solidFill>
              </a:rPr>
              <a:t>•  Applied to train + validation, never to test</a:t>
            </a:r>
          </a:p>
          <a:p>
            <a:pPr algn="l">
              <a:spcAft>
                <a:spcPts val="800"/>
              </a:spcAft>
            </a:pPr>
            <a:r>
              <a:rPr sz="1800" b="0">
                <a:solidFill>
                  <a:srgbClr val="1F2A44"/>
                </a:solidFill>
              </a:rPr>
              <a:t>•  Gap shrinks: 76.2% train vs 71.7% validation</a:t>
            </a:r>
          </a:p>
          <a:p>
            <a:pPr algn="l">
              <a:spcAft>
                <a:spcPts val="800"/>
              </a:spcAft>
            </a:pPr>
            <a:r>
              <a:rPr sz="1800" b="0">
                <a:solidFill>
                  <a:srgbClr val="1F2A44"/>
                </a:solidFill>
              </a:rPr>
              <a:t>•  Learns slower: needs more than 15 epochs</a:t>
            </a:r>
          </a:p>
        </p:txBody>
      </p:sp>
      <p:sp>
        <p:nvSpPr>
          <p:cNvPr id="7" name="TextBox 6"/>
          <p:cNvSpPr txBox="1"/>
          <p:nvPr/>
        </p:nvSpPr>
        <p:spPr>
          <a:xfrm>
            <a:off x="548640" y="5486400"/>
            <a:ext cx="7315200" cy="914400"/>
          </a:xfrm>
          <a:prstGeom prst="rect">
            <a:avLst/>
          </a:prstGeom>
          <a:noFill/>
        </p:spPr>
        <p:txBody>
          <a:bodyPr wrap="square">
            <a:spAutoFit/>
          </a:bodyPr>
          <a:lstStyle/>
          <a:p>
            <a:pPr algn="l">
              <a:spcAft>
                <a:spcPts val="800"/>
              </a:spcAft>
            </a:pPr>
            <a:r>
              <a:rPr sz="2200" b="1">
                <a:solidFill>
                  <a:srgbClr val="E07A1F"/>
                </a:solidFill>
              </a:rPr>
              <a:t>Test set: 74.0% accuracy, F1 0.746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Improvement 2: dropout + batch normalization</a:t>
            </a:r>
          </a:p>
        </p:txBody>
      </p:sp>
      <p:pic>
        <p:nvPicPr>
          <p:cNvPr id="5" name="Picture 4" descr="curves_dropout_bn.png"/>
          <p:cNvPicPr>
            <a:picLocks noChangeAspect="1"/>
          </p:cNvPicPr>
          <p:nvPr/>
        </p:nvPicPr>
        <p:blipFill>
          <a:blip r:embed="rId3"/>
          <a:stretch>
            <a:fillRect/>
          </a:stretch>
        </p:blipFill>
        <p:spPr>
          <a:xfrm>
            <a:off x="365760" y="2166851"/>
            <a:ext cx="7680960" cy="2249978"/>
          </a:xfrm>
          <a:prstGeom prst="rect">
            <a:avLst/>
          </a:prstGeom>
        </p:spPr>
      </p:pic>
      <p:sp>
        <p:nvSpPr>
          <p:cNvPr id="6" name="TextBox 5"/>
          <p:cNvSpPr txBox="1"/>
          <p:nvPr/>
        </p:nvSpPr>
        <p:spPr>
          <a:xfrm>
            <a:off x="8229600" y="1554480"/>
            <a:ext cx="3657600" cy="5029200"/>
          </a:xfrm>
          <a:prstGeom prst="rect">
            <a:avLst/>
          </a:prstGeom>
          <a:noFill/>
        </p:spPr>
        <p:txBody>
          <a:bodyPr wrap="square">
            <a:spAutoFit/>
          </a:bodyPr>
          <a:lstStyle/>
          <a:p>
            <a:pPr algn="l">
              <a:spcAft>
                <a:spcPts val="800"/>
              </a:spcAft>
            </a:pPr>
            <a:r>
              <a:rPr sz="1800" b="0">
                <a:solidFill>
                  <a:srgbClr val="1F2A44"/>
                </a:solidFill>
              </a:rPr>
              <a:t>•  BatchNorm after each conv, Dropout 30% before Dense</a:t>
            </a:r>
          </a:p>
          <a:p>
            <a:pPr algn="l">
              <a:spcAft>
                <a:spcPts val="800"/>
              </a:spcAft>
            </a:pPr>
            <a:r>
              <a:rPr sz="1800" b="0">
                <a:solidFill>
                  <a:srgbClr val="1F2A44"/>
                </a:solidFill>
              </a:rPr>
              <a:t>•  Learns faster: best epoch 6 (73.5% val.)</a:t>
            </a:r>
          </a:p>
          <a:p>
            <a:pPr algn="l">
              <a:spcAft>
                <a:spcPts val="800"/>
              </a:spcAft>
            </a:pPr>
            <a:r>
              <a:rPr sz="1800" b="0">
                <a:solidFill>
                  <a:srgbClr val="1F2A44"/>
                </a:solidFill>
              </a:rPr>
              <a:t>•  Then overfits: 96.6% train vs 66.8% val.</a:t>
            </a:r>
          </a:p>
          <a:p>
            <a:pPr algn="l">
              <a:spcAft>
                <a:spcPts val="800"/>
              </a:spcAft>
            </a:pPr>
            <a:r>
              <a:rPr sz="1800" b="0">
                <a:solidFill>
                  <a:srgbClr val="1F2A44"/>
                </a:solidFill>
              </a:rPr>
              <a:t>•  Bug fixed: BN momentum 0.99 → 0.9 (model predicted only one class)</a:t>
            </a:r>
          </a:p>
        </p:txBody>
      </p:sp>
      <p:sp>
        <p:nvSpPr>
          <p:cNvPr id="7" name="TextBox 6"/>
          <p:cNvSpPr txBox="1"/>
          <p:nvPr/>
        </p:nvSpPr>
        <p:spPr>
          <a:xfrm>
            <a:off x="548640" y="5486400"/>
            <a:ext cx="7315200" cy="914400"/>
          </a:xfrm>
          <a:prstGeom prst="rect">
            <a:avLst/>
          </a:prstGeom>
          <a:noFill/>
        </p:spPr>
        <p:txBody>
          <a:bodyPr wrap="square">
            <a:spAutoFit/>
          </a:bodyPr>
          <a:lstStyle/>
          <a:p>
            <a:pPr algn="l">
              <a:spcAft>
                <a:spcPts val="800"/>
              </a:spcAft>
            </a:pPr>
            <a:r>
              <a:rPr sz="2200" b="1">
                <a:solidFill>
                  <a:srgbClr val="E07A1F"/>
                </a:solidFill>
              </a:rPr>
              <a:t>Test set: 74.5% accuracy, F1 0.736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Bonus: transfer learning with MobileNetV2</a:t>
            </a:r>
          </a:p>
        </p:txBody>
      </p:sp>
      <p:pic>
        <p:nvPicPr>
          <p:cNvPr id="5" name="Picture 4" descr="curves_mobilenet.png"/>
          <p:cNvPicPr>
            <a:picLocks noChangeAspect="1"/>
          </p:cNvPicPr>
          <p:nvPr/>
        </p:nvPicPr>
        <p:blipFill>
          <a:blip r:embed="rId3"/>
          <a:stretch>
            <a:fillRect/>
          </a:stretch>
        </p:blipFill>
        <p:spPr>
          <a:xfrm>
            <a:off x="274320" y="1886065"/>
            <a:ext cx="5852160" cy="1714269"/>
          </a:xfrm>
          <a:prstGeom prst="rect">
            <a:avLst/>
          </a:prstGeom>
        </p:spPr>
      </p:pic>
      <p:pic>
        <p:nvPicPr>
          <p:cNvPr id="6" name="Picture 5" descr="curves_finetuned.png"/>
          <p:cNvPicPr>
            <a:picLocks noChangeAspect="1"/>
          </p:cNvPicPr>
          <p:nvPr/>
        </p:nvPicPr>
        <p:blipFill>
          <a:blip r:embed="rId4"/>
          <a:stretch>
            <a:fillRect/>
          </a:stretch>
        </p:blipFill>
        <p:spPr>
          <a:xfrm>
            <a:off x="6126480" y="1886065"/>
            <a:ext cx="5852160" cy="1714269"/>
          </a:xfrm>
          <a:prstGeom prst="rect">
            <a:avLst/>
          </a:prstGeom>
        </p:spPr>
      </p:pic>
      <p:sp>
        <p:nvSpPr>
          <p:cNvPr id="7" name="TextBox 6"/>
          <p:cNvSpPr txBox="1"/>
          <p:nvPr/>
        </p:nvSpPr>
        <p:spPr>
          <a:xfrm>
            <a:off x="548640" y="4389120"/>
            <a:ext cx="5486400" cy="2194560"/>
          </a:xfrm>
          <a:prstGeom prst="rect">
            <a:avLst/>
          </a:prstGeom>
          <a:noFill/>
        </p:spPr>
        <p:txBody>
          <a:bodyPr wrap="square">
            <a:spAutoFit/>
          </a:bodyPr>
          <a:lstStyle/>
          <a:p>
            <a:pPr algn="l">
              <a:spcAft>
                <a:spcPts val="800"/>
              </a:spcAft>
            </a:pPr>
            <a:r>
              <a:rPr sz="1700" b="0">
                <a:solidFill>
                  <a:srgbClr val="1F2A44"/>
                </a:solidFill>
              </a:rPr>
              <a:t>A. Feature extraction</a:t>
            </a:r>
          </a:p>
          <a:p>
            <a:pPr algn="l">
              <a:spcAft>
                <a:spcPts val="800"/>
              </a:spcAft>
            </a:pPr>
            <a:r>
              <a:rPr sz="1700" b="0">
                <a:solidFill>
                  <a:srgbClr val="1F2A44"/>
                </a:solidFill>
              </a:rPr>
              <a:t>•  Frozen ImageNet backbone + new sigmoid output</a:t>
            </a:r>
          </a:p>
          <a:p>
            <a:pPr algn="l">
              <a:spcAft>
                <a:spcPts val="800"/>
              </a:spcAft>
            </a:pPr>
            <a:r>
              <a:rPr sz="1700" b="0">
                <a:solidFill>
                  <a:srgbClr val="1F2A44"/>
                </a:solidFill>
              </a:rPr>
              <a:t>•  15 epochs, Adam 0.001</a:t>
            </a:r>
          </a:p>
          <a:p>
            <a:pPr algn="l">
              <a:spcAft>
                <a:spcPts val="800"/>
              </a:spcAft>
            </a:pPr>
            <a:r>
              <a:rPr sz="1700" b="0">
                <a:solidFill>
                  <a:srgbClr val="1F2A44"/>
                </a:solidFill>
              </a:rPr>
              <a:t>•  Test: 94.5% accuracy</a:t>
            </a:r>
          </a:p>
        </p:txBody>
      </p:sp>
      <p:sp>
        <p:nvSpPr>
          <p:cNvPr id="8" name="TextBox 7"/>
          <p:cNvSpPr txBox="1"/>
          <p:nvPr/>
        </p:nvSpPr>
        <p:spPr>
          <a:xfrm>
            <a:off x="6400800" y="4389120"/>
            <a:ext cx="5486400" cy="2194560"/>
          </a:xfrm>
          <a:prstGeom prst="rect">
            <a:avLst/>
          </a:prstGeom>
          <a:noFill/>
        </p:spPr>
        <p:txBody>
          <a:bodyPr wrap="square">
            <a:spAutoFit/>
          </a:bodyPr>
          <a:lstStyle/>
          <a:p>
            <a:pPr algn="l">
              <a:spcAft>
                <a:spcPts val="800"/>
              </a:spcAft>
            </a:pPr>
            <a:r>
              <a:rPr sz="1700" b="0">
                <a:solidFill>
                  <a:srgbClr val="1F2A44"/>
                </a:solidFill>
              </a:rPr>
              <a:t>B. Fine-tuning</a:t>
            </a:r>
          </a:p>
          <a:p>
            <a:pPr algn="l">
              <a:spcAft>
                <a:spcPts val="800"/>
              </a:spcAft>
            </a:pPr>
            <a:r>
              <a:rPr sz="1700" b="0">
                <a:solidFill>
                  <a:srgbClr val="1F2A44"/>
                </a:solidFill>
              </a:rPr>
              <a:t>•  Unfreeze last 30 layers (1.5 M trainable weights)</a:t>
            </a:r>
          </a:p>
          <a:p>
            <a:pPr algn="l">
              <a:spcAft>
                <a:spcPts val="800"/>
              </a:spcAft>
            </a:pPr>
            <a:r>
              <a:rPr sz="1700" b="0">
                <a:solidFill>
                  <a:srgbClr val="1F2A44"/>
                </a:solidFill>
              </a:rPr>
              <a:t>•  5 epochs, Adam 0.00001, BN kept frozen</a:t>
            </a:r>
          </a:p>
          <a:p>
            <a:pPr algn="l">
              <a:spcAft>
                <a:spcPts val="800"/>
              </a:spcAft>
            </a:pPr>
            <a:r>
              <a:rPr sz="1700" b="0">
                <a:solidFill>
                  <a:srgbClr val="1F2A44"/>
                </a:solidFill>
              </a:rPr>
              <a:t>•  Test: 94.8% accuracy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Test results (400 unseen images)</a:t>
            </a:r>
          </a:p>
        </p:txBody>
      </p:sp>
      <p:pic>
        <p:nvPicPr>
          <p:cNvPr id="5" name="Picture 4" descr="confusion.png"/>
          <p:cNvPicPr>
            <a:picLocks noChangeAspect="1"/>
          </p:cNvPicPr>
          <p:nvPr/>
        </p:nvPicPr>
        <p:blipFill>
          <a:blip r:embed="rId3"/>
          <a:stretch>
            <a:fillRect/>
          </a:stretch>
        </p:blipFill>
        <p:spPr>
          <a:xfrm>
            <a:off x="274320" y="1319382"/>
            <a:ext cx="11612880" cy="2298996"/>
          </a:xfrm>
          <a:prstGeom prst="rect">
            <a:avLst/>
          </a:prstGeom>
        </p:spPr>
      </p:pic>
      <p:graphicFrame>
        <p:nvGraphicFramePr>
          <p:cNvPr id="6" name="Table 5"/>
          <p:cNvGraphicFramePr>
            <a:graphicFrameLocks noGrp="1"/>
          </p:cNvGraphicFramePr>
          <p:nvPr/>
        </p:nvGraphicFramePr>
        <p:xfrm>
          <a:off x="1463040" y="3886200"/>
          <a:ext cx="9144000" cy="2304288"/>
        </p:xfrm>
        <a:graphic>
          <a:graphicData uri="http://schemas.openxmlformats.org/drawingml/2006/table">
            <a:tbl>
              <a:tblPr firstRow="1" bandRow="1">
                <a:tableStyleId>{5C22544A-7EE6-4342-B048-85BDC9FD1C3A}</a:tableStyleId>
              </a:tblPr>
              <a:tblGrid>
                <a:gridCol w="3291840"/>
                <a:gridCol w="1463040"/>
                <a:gridCol w="1463040"/>
                <a:gridCol w="1463040"/>
                <a:gridCol w="1463040"/>
              </a:tblGrid>
              <a:tr h="384048">
                <a:tc>
                  <a:txBody>
                    <a:bodyPr/>
                    <a:lstStyle/>
                    <a:p>
                      <a:r>
                        <a:rPr sz="1500" b="1"/>
                        <a:t>Model</a:t>
                      </a:r>
                    </a:p>
                  </a:txBody>
                  <a:tcPr/>
                </a:tc>
                <a:tc>
                  <a:txBody>
                    <a:bodyPr/>
                    <a:lstStyle/>
                    <a:p>
                      <a:r>
                        <a:rPr sz="1500" b="1"/>
                        <a:t>Accuracy</a:t>
                      </a:r>
                    </a:p>
                  </a:txBody>
                  <a:tcPr/>
                </a:tc>
                <a:tc>
                  <a:txBody>
                    <a:bodyPr/>
                    <a:lstStyle/>
                    <a:p>
                      <a:r>
                        <a:rPr sz="1500" b="1"/>
                        <a:t>Precision</a:t>
                      </a:r>
                    </a:p>
                  </a:txBody>
                  <a:tcPr/>
                </a:tc>
                <a:tc>
                  <a:txBody>
                    <a:bodyPr/>
                    <a:lstStyle/>
                    <a:p>
                      <a:r>
                        <a:rPr sz="1500" b="1"/>
                        <a:t>Recall</a:t>
                      </a:r>
                    </a:p>
                  </a:txBody>
                  <a:tcPr/>
                </a:tc>
                <a:tc>
                  <a:txBody>
                    <a:bodyPr/>
                    <a:lstStyle/>
                    <a:p>
                      <a:r>
                        <a:rPr sz="1500" b="1"/>
                        <a:t>F1</a:t>
                      </a:r>
                    </a:p>
                  </a:txBody>
                  <a:tcPr/>
                </a:tc>
              </a:tr>
              <a:tr h="384048">
                <a:tc>
                  <a:txBody>
                    <a:bodyPr/>
                    <a:lstStyle/>
                    <a:p>
                      <a:r>
                        <a:rPr sz="1500" b="0"/>
                        <a:t>Baseline</a:t>
                      </a:r>
                    </a:p>
                  </a:txBody>
                  <a:tcPr/>
                </a:tc>
                <a:tc>
                  <a:txBody>
                    <a:bodyPr/>
                    <a:lstStyle/>
                    <a:p>
                      <a:r>
                        <a:rPr sz="1500" b="0"/>
                        <a:t>77.8%</a:t>
                      </a:r>
                    </a:p>
                  </a:txBody>
                  <a:tcPr/>
                </a:tc>
                <a:tc>
                  <a:txBody>
                    <a:bodyPr/>
                    <a:lstStyle/>
                    <a:p>
                      <a:r>
                        <a:rPr sz="1500" b="0"/>
                        <a:t>0.832</a:t>
                      </a:r>
                    </a:p>
                  </a:txBody>
                  <a:tcPr/>
                </a:tc>
                <a:tc>
                  <a:txBody>
                    <a:bodyPr/>
                    <a:lstStyle/>
                    <a:p>
                      <a:r>
                        <a:rPr sz="1500" b="0"/>
                        <a:t>0.695</a:t>
                      </a:r>
                    </a:p>
                  </a:txBody>
                  <a:tcPr/>
                </a:tc>
                <a:tc>
                  <a:txBody>
                    <a:bodyPr/>
                    <a:lstStyle/>
                    <a:p>
                      <a:r>
                        <a:rPr sz="1500" b="0"/>
                        <a:t>0.757</a:t>
                      </a:r>
                    </a:p>
                  </a:txBody>
                  <a:tcPr/>
                </a:tc>
              </a:tr>
              <a:tr h="384048">
                <a:tc>
                  <a:txBody>
                    <a:bodyPr/>
                    <a:lstStyle/>
                    <a:p>
                      <a:r>
                        <a:rPr sz="1500" b="0"/>
                        <a:t>Augmentation</a:t>
                      </a:r>
                    </a:p>
                  </a:txBody>
                  <a:tcPr/>
                </a:tc>
                <a:tc>
                  <a:txBody>
                    <a:bodyPr/>
                    <a:lstStyle/>
                    <a:p>
                      <a:r>
                        <a:rPr sz="1500" b="0"/>
                        <a:t>74.0%</a:t>
                      </a:r>
                    </a:p>
                  </a:txBody>
                  <a:tcPr/>
                </a:tc>
                <a:tc>
                  <a:txBody>
                    <a:bodyPr/>
                    <a:lstStyle/>
                    <a:p>
                      <a:r>
                        <a:rPr sz="1500" b="0"/>
                        <a:t>0.729</a:t>
                      </a:r>
                    </a:p>
                  </a:txBody>
                  <a:tcPr/>
                </a:tc>
                <a:tc>
                  <a:txBody>
                    <a:bodyPr/>
                    <a:lstStyle/>
                    <a:p>
                      <a:r>
                        <a:rPr sz="1500" b="0"/>
                        <a:t>0.765</a:t>
                      </a:r>
                    </a:p>
                  </a:txBody>
                  <a:tcPr/>
                </a:tc>
                <a:tc>
                  <a:txBody>
                    <a:bodyPr/>
                    <a:lstStyle/>
                    <a:p>
                      <a:r>
                        <a:rPr sz="1500" b="0"/>
                        <a:t>0.746</a:t>
                      </a:r>
                    </a:p>
                  </a:txBody>
                  <a:tcPr/>
                </a:tc>
              </a:tr>
              <a:tr h="384048">
                <a:tc>
                  <a:txBody>
                    <a:bodyPr/>
                    <a:lstStyle/>
                    <a:p>
                      <a:r>
                        <a:rPr sz="1500" b="0"/>
                        <a:t>Dropout + BN</a:t>
                      </a:r>
                    </a:p>
                  </a:txBody>
                  <a:tcPr/>
                </a:tc>
                <a:tc>
                  <a:txBody>
                    <a:bodyPr/>
                    <a:lstStyle/>
                    <a:p>
                      <a:r>
                        <a:rPr sz="1500" b="0"/>
                        <a:t>74.5%</a:t>
                      </a:r>
                    </a:p>
                  </a:txBody>
                  <a:tcPr/>
                </a:tc>
                <a:tc>
                  <a:txBody>
                    <a:bodyPr/>
                    <a:lstStyle/>
                    <a:p>
                      <a:r>
                        <a:rPr sz="1500" b="0"/>
                        <a:t>0.763</a:t>
                      </a:r>
                    </a:p>
                  </a:txBody>
                  <a:tcPr/>
                </a:tc>
                <a:tc>
                  <a:txBody>
                    <a:bodyPr/>
                    <a:lstStyle/>
                    <a:p>
                      <a:r>
                        <a:rPr sz="1500" b="0"/>
                        <a:t>0.710</a:t>
                      </a:r>
                    </a:p>
                  </a:txBody>
                  <a:tcPr/>
                </a:tc>
                <a:tc>
                  <a:txBody>
                    <a:bodyPr/>
                    <a:lstStyle/>
                    <a:p>
                      <a:r>
                        <a:rPr sz="1500" b="0"/>
                        <a:t>0.736</a:t>
                      </a:r>
                    </a:p>
                  </a:txBody>
                  <a:tcPr/>
                </a:tc>
              </a:tr>
              <a:tr h="384048">
                <a:tc>
                  <a:txBody>
                    <a:bodyPr/>
                    <a:lstStyle/>
                    <a:p>
                      <a:r>
                        <a:rPr sz="1500" b="0"/>
                        <a:t>MobileNetV2</a:t>
                      </a:r>
                    </a:p>
                  </a:txBody>
                  <a:tcPr/>
                </a:tc>
                <a:tc>
                  <a:txBody>
                    <a:bodyPr/>
                    <a:lstStyle/>
                    <a:p>
                      <a:r>
                        <a:rPr sz="1500" b="0"/>
                        <a:t>94.5%</a:t>
                      </a:r>
                    </a:p>
                  </a:txBody>
                  <a:tcPr/>
                </a:tc>
                <a:tc>
                  <a:txBody>
                    <a:bodyPr/>
                    <a:lstStyle/>
                    <a:p>
                      <a:r>
                        <a:rPr sz="1500" b="0"/>
                        <a:t>0.941</a:t>
                      </a:r>
                    </a:p>
                  </a:txBody>
                  <a:tcPr/>
                </a:tc>
                <a:tc>
                  <a:txBody>
                    <a:bodyPr/>
                    <a:lstStyle/>
                    <a:p>
                      <a:r>
                        <a:rPr sz="1500" b="0"/>
                        <a:t>0.950</a:t>
                      </a:r>
                    </a:p>
                  </a:txBody>
                  <a:tcPr/>
                </a:tc>
                <a:tc>
                  <a:txBody>
                    <a:bodyPr/>
                    <a:lstStyle/>
                    <a:p>
                      <a:r>
                        <a:rPr sz="1500" b="0"/>
                        <a:t>0.945</a:t>
                      </a:r>
                    </a:p>
                  </a:txBody>
                  <a:tcPr/>
                </a:tc>
              </a:tr>
              <a:tr h="384048">
                <a:tc>
                  <a:txBody>
                    <a:bodyPr/>
                    <a:lstStyle/>
                    <a:p>
                      <a:r>
                        <a:rPr sz="1500" b="1"/>
                        <a:t>MobileNetV2 fine-tuned</a:t>
                      </a:r>
                    </a:p>
                  </a:txBody>
                  <a:tcPr/>
                </a:tc>
                <a:tc>
                  <a:txBody>
                    <a:bodyPr/>
                    <a:lstStyle/>
                    <a:p>
                      <a:r>
                        <a:rPr sz="1500" b="1"/>
                        <a:t>94.8%</a:t>
                      </a:r>
                    </a:p>
                  </a:txBody>
                  <a:tcPr/>
                </a:tc>
                <a:tc>
                  <a:txBody>
                    <a:bodyPr/>
                    <a:lstStyle/>
                    <a:p>
                      <a:r>
                        <a:rPr sz="1500" b="1"/>
                        <a:t>0.954</a:t>
                      </a:r>
                    </a:p>
                  </a:txBody>
                  <a:tcPr/>
                </a:tc>
                <a:tc>
                  <a:txBody>
                    <a:bodyPr/>
                    <a:lstStyle/>
                    <a:p>
                      <a:r>
                        <a:rPr sz="1500" b="1"/>
                        <a:t>0.940</a:t>
                      </a:r>
                    </a:p>
                  </a:txBody>
                  <a:tcPr/>
                </a:tc>
                <a:tc>
                  <a:txBody>
                    <a:bodyPr/>
                    <a:lstStyle/>
                    <a:p>
                      <a:r>
                        <a:rPr sz="1500" b="1"/>
                        <a:t>0.947</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ROC curves: all thresholds at once</a:t>
            </a:r>
          </a:p>
        </p:txBody>
      </p:sp>
      <p:pic>
        <p:nvPicPr>
          <p:cNvPr id="5" name="Picture 4" descr="roc.png"/>
          <p:cNvPicPr>
            <a:picLocks noChangeAspect="1"/>
          </p:cNvPicPr>
          <p:nvPr/>
        </p:nvPicPr>
        <p:blipFill>
          <a:blip r:embed="rId3"/>
          <a:stretch>
            <a:fillRect/>
          </a:stretch>
        </p:blipFill>
        <p:spPr>
          <a:xfrm>
            <a:off x="548640" y="1315117"/>
            <a:ext cx="6035040" cy="5233606"/>
          </a:xfrm>
          <a:prstGeom prst="rect">
            <a:avLst/>
          </a:prstGeom>
        </p:spPr>
      </p:pic>
      <p:sp>
        <p:nvSpPr>
          <p:cNvPr id="6" name="TextBox 5"/>
          <p:cNvSpPr txBox="1"/>
          <p:nvPr/>
        </p:nvSpPr>
        <p:spPr>
          <a:xfrm>
            <a:off x="6949440" y="1737360"/>
            <a:ext cx="4846320" cy="4572000"/>
          </a:xfrm>
          <a:prstGeom prst="rect">
            <a:avLst/>
          </a:prstGeom>
          <a:noFill/>
        </p:spPr>
        <p:txBody>
          <a:bodyPr wrap="square">
            <a:spAutoFit/>
          </a:bodyPr>
          <a:lstStyle/>
          <a:p>
            <a:pPr algn="l">
              <a:spcAft>
                <a:spcPts val="800"/>
              </a:spcAft>
            </a:pPr>
            <a:r>
              <a:rPr sz="1900" b="0">
                <a:solidFill>
                  <a:srgbClr val="1F2A44"/>
                </a:solidFill>
              </a:rPr>
              <a:t>•  x: cats wrongly called dogs (false-positive rate)</a:t>
            </a:r>
          </a:p>
          <a:p>
            <a:pPr algn="l">
              <a:spcAft>
                <a:spcPts val="800"/>
              </a:spcAft>
            </a:pPr>
            <a:r>
              <a:rPr sz="1900" b="0">
                <a:solidFill>
                  <a:srgbClr val="1F2A44"/>
                </a:solidFill>
              </a:rPr>
              <a:t>•  y: dogs found (true-positive rate)</a:t>
            </a:r>
          </a:p>
          <a:p>
            <a:pPr algn="l">
              <a:spcAft>
                <a:spcPts val="800"/>
              </a:spcAft>
            </a:pPr>
            <a:r>
              <a:rPr sz="1900" b="0">
                <a:solidFill>
                  <a:srgbClr val="1F2A44"/>
                </a:solidFill>
              </a:rPr>
              <a:t>•  AUC 0.5 = guessing, 1.0 = perfect</a:t>
            </a:r>
          </a:p>
          <a:p>
            <a:pPr algn="l">
              <a:spcAft>
                <a:spcPts val="800"/>
              </a:spcAft>
            </a:pPr>
            <a:r>
              <a:rPr sz="1900" b="0">
                <a:solidFill>
                  <a:srgbClr val="1F2A44"/>
                </a:solidFill>
              </a:rPr>
              <a:t>•  From-scratch CNNs: AUC 0.82 to 0.85</a:t>
            </a:r>
          </a:p>
          <a:p>
            <a:pPr algn="l">
              <a:spcAft>
                <a:spcPts val="800"/>
              </a:spcAft>
            </a:pPr>
            <a:r>
              <a:rPr sz="1900" b="0">
                <a:solidFill>
                  <a:srgbClr val="1F2A44"/>
                </a:solidFill>
              </a:rPr>
              <a:t>•  MobileNetV2: AUC 0.987 → 0.989 after fine-tuning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Inside our CNN: feature maps and Grad-CAM</a:t>
            </a:r>
          </a:p>
        </p:txBody>
      </p:sp>
      <p:pic>
        <p:nvPicPr>
          <p:cNvPr id="5" name="Picture 4" descr="feature_maps.png"/>
          <p:cNvPicPr>
            <a:picLocks noChangeAspect="1"/>
          </p:cNvPicPr>
          <p:nvPr/>
        </p:nvPicPr>
        <p:blipFill>
          <a:blip r:embed="rId3"/>
          <a:stretch>
            <a:fillRect/>
          </a:stretch>
        </p:blipFill>
        <p:spPr>
          <a:xfrm>
            <a:off x="1273795" y="1188720"/>
            <a:ext cx="9613929" cy="2606040"/>
          </a:xfrm>
          <a:prstGeom prst="rect">
            <a:avLst/>
          </a:prstGeom>
        </p:spPr>
      </p:pic>
      <p:pic>
        <p:nvPicPr>
          <p:cNvPr id="6" name="Picture 5" descr="gradcam.png"/>
          <p:cNvPicPr>
            <a:picLocks noChangeAspect="1"/>
          </p:cNvPicPr>
          <p:nvPr/>
        </p:nvPicPr>
        <p:blipFill>
          <a:blip r:embed="rId4"/>
          <a:stretch>
            <a:fillRect/>
          </a:stretch>
        </p:blipFill>
        <p:spPr>
          <a:xfrm>
            <a:off x="2013727" y="3840480"/>
            <a:ext cx="8134065" cy="29260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What the best model gets wrong</a:t>
            </a:r>
          </a:p>
        </p:txBody>
      </p:sp>
      <p:pic>
        <p:nvPicPr>
          <p:cNvPr id="5" name="Picture 4" descr="errors.png"/>
          <p:cNvPicPr>
            <a:picLocks noChangeAspect="1"/>
          </p:cNvPicPr>
          <p:nvPr/>
        </p:nvPicPr>
        <p:blipFill>
          <a:blip r:embed="rId3"/>
          <a:stretch>
            <a:fillRect/>
          </a:stretch>
        </p:blipFill>
        <p:spPr>
          <a:xfrm>
            <a:off x="365760" y="1884258"/>
            <a:ext cx="7315200" cy="4095324"/>
          </a:xfrm>
          <a:prstGeom prst="rect">
            <a:avLst/>
          </a:prstGeom>
        </p:spPr>
      </p:pic>
      <p:sp>
        <p:nvSpPr>
          <p:cNvPr id="6" name="TextBox 5"/>
          <p:cNvSpPr txBox="1"/>
          <p:nvPr/>
        </p:nvSpPr>
        <p:spPr>
          <a:xfrm>
            <a:off x="7955279" y="1554480"/>
            <a:ext cx="3931920" cy="5029200"/>
          </a:xfrm>
          <a:prstGeom prst="rect">
            <a:avLst/>
          </a:prstGeom>
          <a:noFill/>
        </p:spPr>
        <p:txBody>
          <a:bodyPr wrap="square">
            <a:spAutoFit/>
          </a:bodyPr>
          <a:lstStyle/>
          <a:p>
            <a:pPr algn="l">
              <a:spcAft>
                <a:spcPts val="800"/>
              </a:spcAft>
            </a:pPr>
            <a:r>
              <a:rPr sz="1900" b="0">
                <a:solidFill>
                  <a:srgbClr val="1F2A44"/>
                </a:solidFill>
              </a:rPr>
              <a:t>21 errors / 400 test images</a:t>
            </a:r>
          </a:p>
          <a:p>
            <a:pPr algn="l">
              <a:spcAft>
                <a:spcPts val="800"/>
              </a:spcAft>
            </a:pPr>
            <a:r>
              <a:rPr sz="1900" b="0">
                <a:solidFill>
                  <a:srgbClr val="1F2A44"/>
                </a:solidFill>
              </a:rPr>
              <a:t/>
            </a:r>
          </a:p>
          <a:p>
            <a:pPr algn="l">
              <a:spcAft>
                <a:spcPts val="800"/>
              </a:spcAft>
            </a:pPr>
            <a:r>
              <a:rPr sz="1900" b="0">
                <a:solidFill>
                  <a:srgbClr val="1F2A44"/>
                </a:solidFill>
              </a:rPr>
              <a:t>•  Animal small or partly hidden</a:t>
            </a:r>
          </a:p>
          <a:p>
            <a:pPr algn="l">
              <a:spcAft>
                <a:spcPts val="800"/>
              </a:spcAft>
            </a:pPr>
            <a:r>
              <a:rPr sz="1900" b="0">
                <a:solidFill>
                  <a:srgbClr val="1F2A44"/>
                </a:solidFill>
              </a:rPr>
              <a:t>•  Held by a person</a:t>
            </a:r>
          </a:p>
          <a:p>
            <a:pPr algn="l">
              <a:spcAft>
                <a:spcPts val="800"/>
              </a:spcAft>
            </a:pPr>
            <a:r>
              <a:rPr sz="1900" b="0">
                <a:solidFill>
                  <a:srgbClr val="1F2A44"/>
                </a:solidFill>
              </a:rPr>
              <a:t>•  Unusual pose or framing</a:t>
            </a:r>
          </a:p>
          <a:p>
            <a:pPr algn="l">
              <a:spcAft>
                <a:spcPts val="800"/>
              </a:spcAft>
            </a:pPr>
            <a:r>
              <a:rPr sz="1900" b="0">
                <a:solidFill>
                  <a:srgbClr val="1F2A44"/>
                </a:solidFill>
              </a:rPr>
              <a:t>•  Fluffy, light-coloured cats → "dog"</a:t>
            </a:r>
          </a:p>
          <a:p>
            <a:pPr algn="l">
              <a:spcAft>
                <a:spcPts val="800"/>
              </a:spcAft>
            </a:pPr>
            <a:r>
              <a:rPr sz="1900" b="0">
                <a:solidFill>
                  <a:srgbClr val="1F2A44"/>
                </a:solidFill>
              </a:rPr>
              <a:t>•  96 × 96 resizing removes detail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Conclusion and next steps</a:t>
            </a:r>
          </a:p>
        </p:txBody>
      </p:sp>
      <p:sp>
        <p:nvSpPr>
          <p:cNvPr id="5" name="TextBox 4"/>
          <p:cNvSpPr txBox="1"/>
          <p:nvPr/>
        </p:nvSpPr>
        <p:spPr>
          <a:xfrm>
            <a:off x="640080" y="1463040"/>
            <a:ext cx="5486400" cy="5029200"/>
          </a:xfrm>
          <a:prstGeom prst="rect">
            <a:avLst/>
          </a:prstGeom>
          <a:noFill/>
        </p:spPr>
        <p:txBody>
          <a:bodyPr wrap="square">
            <a:spAutoFit/>
          </a:bodyPr>
          <a:lstStyle/>
          <a:p>
            <a:pPr algn="l">
              <a:spcAft>
                <a:spcPts val="800"/>
              </a:spcAft>
            </a:pPr>
            <a:r>
              <a:rPr sz="1900" b="0">
                <a:solidFill>
                  <a:srgbClr val="1F2A44"/>
                </a:solidFill>
              </a:rPr>
              <a:t>What we learned</a:t>
            </a:r>
          </a:p>
          <a:p>
            <a:pPr algn="l">
              <a:spcAft>
                <a:spcPts val="800"/>
              </a:spcAft>
            </a:pPr>
            <a:r>
              <a:rPr sz="1900" b="0">
                <a:solidFill>
                  <a:srgbClr val="1F2A44"/>
                </a:solidFill>
              </a:rPr>
              <a:t>•  From scratch: ~75–78% with 1,600 images</a:t>
            </a:r>
          </a:p>
          <a:p>
            <a:pPr algn="l">
              <a:spcAft>
                <a:spcPts val="800"/>
              </a:spcAft>
            </a:pPr>
            <a:r>
              <a:rPr sz="1900" b="0">
                <a:solidFill>
                  <a:srgbClr val="1F2A44"/>
                </a:solidFill>
              </a:rPr>
              <a:t>•  Overfitting is the main problem</a:t>
            </a:r>
          </a:p>
          <a:p>
            <a:pPr algn="l">
              <a:spcAft>
                <a:spcPts val="800"/>
              </a:spcAft>
            </a:pPr>
            <a:r>
              <a:rPr sz="1900" b="0">
                <a:solidFill>
                  <a:srgbClr val="1F2A44"/>
                </a:solidFill>
              </a:rPr>
              <a:t>•  Augmentation shrinks the gap but needs more epochs</a:t>
            </a:r>
          </a:p>
          <a:p>
            <a:pPr algn="l">
              <a:spcAft>
                <a:spcPts val="800"/>
              </a:spcAft>
            </a:pPr>
            <a:r>
              <a:rPr sz="1900" b="0">
                <a:solidFill>
                  <a:srgbClr val="1F2A44"/>
                </a:solidFill>
              </a:rPr>
              <a:t>•  BatchNorm speeds up learning (after fixing its momentum)</a:t>
            </a:r>
          </a:p>
          <a:p>
            <a:pPr algn="l">
              <a:spcAft>
                <a:spcPts val="800"/>
              </a:spcAft>
            </a:pPr>
            <a:r>
              <a:rPr sz="1900" b="0">
                <a:solidFill>
                  <a:srgbClr val="1F2A44"/>
                </a:solidFill>
              </a:rPr>
              <a:t>•  Pretrained features win: 94.8%</a:t>
            </a:r>
          </a:p>
          <a:p>
            <a:pPr algn="l">
              <a:spcAft>
                <a:spcPts val="800"/>
              </a:spcAft>
            </a:pPr>
            <a:r>
              <a:rPr sz="1900" b="0">
                <a:solidFill>
                  <a:srgbClr val="1F2A44"/>
                </a:solidFill>
              </a:rPr>
              <a:t>•  Grad-CAM: small CNN relies on backgrounds</a:t>
            </a:r>
          </a:p>
        </p:txBody>
      </p:sp>
      <p:sp>
        <p:nvSpPr>
          <p:cNvPr id="6" name="TextBox 5"/>
          <p:cNvSpPr txBox="1"/>
          <p:nvPr/>
        </p:nvSpPr>
        <p:spPr>
          <a:xfrm>
            <a:off x="6492240" y="1463040"/>
            <a:ext cx="5303520" cy="5029200"/>
          </a:xfrm>
          <a:prstGeom prst="rect">
            <a:avLst/>
          </a:prstGeom>
          <a:noFill/>
        </p:spPr>
        <p:txBody>
          <a:bodyPr wrap="square">
            <a:spAutoFit/>
          </a:bodyPr>
          <a:lstStyle/>
          <a:p>
            <a:pPr algn="l">
              <a:spcAft>
                <a:spcPts val="800"/>
              </a:spcAft>
            </a:pPr>
            <a:r>
              <a:rPr sz="1900" b="0">
                <a:solidFill>
                  <a:srgbClr val="1F2A44"/>
                </a:solidFill>
              </a:rPr>
              <a:t>Limits and next steps</a:t>
            </a:r>
          </a:p>
          <a:p>
            <a:pPr algn="l">
              <a:spcAft>
                <a:spcPts val="800"/>
              </a:spcAft>
            </a:pPr>
            <a:r>
              <a:rPr sz="1900" b="0">
                <a:solidFill>
                  <a:srgbClr val="1F2A44"/>
                </a:solidFill>
              </a:rPr>
              <a:t>•  One seed, 400 test images: ±2 points of noise</a:t>
            </a:r>
          </a:p>
          <a:p>
            <a:pPr algn="l">
              <a:spcAft>
                <a:spcPts val="800"/>
              </a:spcAft>
            </a:pPr>
            <a:r>
              <a:rPr sz="1900" b="0">
                <a:solidFill>
                  <a:srgbClr val="1F2A44"/>
                </a:solidFill>
              </a:rPr>
              <a:t>•  Repeat with several seeds</a:t>
            </a:r>
          </a:p>
          <a:p>
            <a:pPr algn="l">
              <a:spcAft>
                <a:spcPts val="800"/>
              </a:spcAft>
            </a:pPr>
            <a:r>
              <a:rPr sz="1900" b="0">
                <a:solidFill>
                  <a:srgbClr val="1F2A44"/>
                </a:solidFill>
              </a:rPr>
              <a:t>•  Train the augmented CNN longer (30+ epochs)</a:t>
            </a:r>
          </a:p>
          <a:p>
            <a:pPr algn="l">
              <a:spcAft>
                <a:spcPts val="800"/>
              </a:spcAft>
            </a:pPr>
            <a:r>
              <a:rPr sz="1900" b="0">
                <a:solidFill>
                  <a:srgbClr val="1F2A44"/>
                </a:solidFill>
              </a:rPr>
              <a:t>•  Larger inputs, e.g. 160 × 160</a:t>
            </a:r>
          </a:p>
          <a:p>
            <a:pPr algn="l">
              <a:spcAft>
                <a:spcPts val="800"/>
              </a:spcAft>
            </a:pPr>
            <a:r>
              <a:rPr sz="1900" b="0">
                <a:solidFill>
                  <a:srgbClr val="1F2A44"/>
                </a:solidFill>
              </a:rPr>
              <a:t>•  Combine augmentation + fine-tuning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64008"/>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47120" cy="731520"/>
          </a:xfrm>
          <a:prstGeom prst="rect">
            <a:avLst/>
          </a:prstGeom>
          <a:noFill/>
        </p:spPr>
        <p:txBody>
          <a:bodyPr wrap="square">
            <a:spAutoFit/>
          </a:bodyPr>
          <a:lstStyle/>
          <a:p>
            <a:pPr algn="l">
              <a:spcAft>
                <a:spcPts val="800"/>
              </a:spcAft>
            </a:pPr>
            <a:r>
              <a:rPr sz="3000" b="1">
                <a:solidFill>
                  <a:srgbClr val="FFFFFF"/>
                </a:solidFill>
              </a:rPr>
              <a:t>References and use of AI</a:t>
            </a:r>
          </a:p>
        </p:txBody>
      </p:sp>
      <p:sp>
        <p:nvSpPr>
          <p:cNvPr id="5" name="TextBox 4"/>
          <p:cNvSpPr txBox="1"/>
          <p:nvPr/>
        </p:nvSpPr>
        <p:spPr>
          <a:xfrm>
            <a:off x="548640" y="1280160"/>
            <a:ext cx="6949440" cy="5486400"/>
          </a:xfrm>
          <a:prstGeom prst="rect">
            <a:avLst/>
          </a:prstGeom>
          <a:noFill/>
        </p:spPr>
        <p:txBody>
          <a:bodyPr wrap="square">
            <a:spAutoFit/>
          </a:bodyPr>
          <a:lstStyle/>
          <a:p>
            <a:pPr algn="l">
              <a:spcAft>
                <a:spcPts val="800"/>
              </a:spcAft>
            </a:pPr>
            <a:r>
              <a:rPr sz="1400" b="0">
                <a:solidFill>
                  <a:srgbClr val="1F2A44"/>
                </a:solidFill>
              </a:rPr>
              <a:t>•  Dataset: storage.googleapis.com/tensorflow-1-public/course2/cats_and_dogs_filtered.zip (Kaggle Dogs vs. Cats; Elson et al., Asirra, CCS 2007)</a:t>
            </a:r>
          </a:p>
          <a:p>
            <a:pPr algn="l">
              <a:spcAft>
                <a:spcPts val="800"/>
              </a:spcAft>
            </a:pPr>
            <a:r>
              <a:rPr sz="1400" b="0">
                <a:solidFill>
                  <a:srgbClr val="1F2A44"/>
                </a:solidFill>
              </a:rPr>
              <a:t>•  TensorFlow tutorials: Image classification; Transfer learning and fine-tuning</a:t>
            </a:r>
          </a:p>
          <a:p>
            <a:pPr algn="l">
              <a:spcAft>
                <a:spcPts val="800"/>
              </a:spcAft>
            </a:pPr>
            <a:r>
              <a:rPr sz="1400" b="0">
                <a:solidFill>
                  <a:srgbClr val="1F2A44"/>
                </a:solidFill>
              </a:rPr>
              <a:t>•  Keras API docs; Keras Grad-CAM example; scikit-learn metrics docs</a:t>
            </a:r>
          </a:p>
          <a:p>
            <a:pPr algn="l">
              <a:spcAft>
                <a:spcPts val="800"/>
              </a:spcAft>
            </a:pPr>
            <a:r>
              <a:rPr sz="1400" b="0">
                <a:solidFill>
                  <a:srgbClr val="1F2A44"/>
                </a:solidFill>
              </a:rPr>
              <a:t>•  Sandler et al., MobileNetV2, CVPR 2018</a:t>
            </a:r>
          </a:p>
          <a:p>
            <a:pPr algn="l">
              <a:spcAft>
                <a:spcPts val="800"/>
              </a:spcAft>
            </a:pPr>
            <a:r>
              <a:rPr sz="1400" b="0">
                <a:solidFill>
                  <a:srgbClr val="1F2A44"/>
                </a:solidFill>
              </a:rPr>
              <a:t>•  Deng et al., ImageNet, CVPR 2009</a:t>
            </a:r>
          </a:p>
          <a:p>
            <a:pPr algn="l">
              <a:spcAft>
                <a:spcPts val="800"/>
              </a:spcAft>
            </a:pPr>
            <a:r>
              <a:rPr sz="1400" b="0">
                <a:solidFill>
                  <a:srgbClr val="1F2A44"/>
                </a:solidFill>
              </a:rPr>
              <a:t>•  Kingma &amp; Ba, Adam, ICLR 2015</a:t>
            </a:r>
          </a:p>
          <a:p>
            <a:pPr algn="l">
              <a:spcAft>
                <a:spcPts val="800"/>
              </a:spcAft>
            </a:pPr>
            <a:r>
              <a:rPr sz="1400" b="0">
                <a:solidFill>
                  <a:srgbClr val="1F2A44"/>
                </a:solidFill>
              </a:rPr>
              <a:t>•  Ioffe &amp; Szegedy, Batch Normalization, ICML 2015</a:t>
            </a:r>
          </a:p>
          <a:p>
            <a:pPr algn="l">
              <a:spcAft>
                <a:spcPts val="800"/>
              </a:spcAft>
            </a:pPr>
            <a:r>
              <a:rPr sz="1400" b="0">
                <a:solidFill>
                  <a:srgbClr val="1F2A44"/>
                </a:solidFill>
              </a:rPr>
              <a:t>•  Srivastava et al., Dropout, JMLR 2014</a:t>
            </a:r>
          </a:p>
          <a:p>
            <a:pPr algn="l">
              <a:spcAft>
                <a:spcPts val="800"/>
              </a:spcAft>
            </a:pPr>
            <a:r>
              <a:rPr sz="1400" b="0">
                <a:solidFill>
                  <a:srgbClr val="1F2A44"/>
                </a:solidFill>
              </a:rPr>
              <a:t>•  Selvaraju et al., Grad-CAM, ICCV 2017</a:t>
            </a:r>
          </a:p>
        </p:txBody>
      </p:sp>
      <p:sp>
        <p:nvSpPr>
          <p:cNvPr id="6" name="Rounded Rectangle 5"/>
          <p:cNvSpPr/>
          <p:nvPr/>
        </p:nvSpPr>
        <p:spPr>
          <a:xfrm>
            <a:off x="7863840" y="1463040"/>
            <a:ext cx="3931920" cy="38404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1600200"/>
            <a:ext cx="3566160" cy="3657600"/>
          </a:xfrm>
          <a:prstGeom prst="rect">
            <a:avLst/>
          </a:prstGeom>
          <a:noFill/>
        </p:spPr>
        <p:txBody>
          <a:bodyPr wrap="square">
            <a:spAutoFit/>
          </a:bodyPr>
          <a:lstStyle/>
          <a:p>
            <a:pPr algn="l">
              <a:spcAft>
                <a:spcPts val="800"/>
              </a:spcAft>
            </a:pPr>
            <a:r>
              <a:rPr sz="1600" b="0">
                <a:solidFill>
                  <a:srgbClr val="1F2A44"/>
                </a:solidFill>
              </a:rPr>
              <a:t>Use of AI</a:t>
            </a:r>
          </a:p>
          <a:p>
            <a:pPr algn="l">
              <a:spcAft>
                <a:spcPts val="800"/>
              </a:spcAft>
            </a:pPr>
            <a:r>
              <a:rPr sz="1600" b="0">
                <a:solidFill>
                  <a:srgbClr val="1F2A44"/>
                </a:solidFill>
              </a:rPr>
              <a:t>We used an AI assistant (Claude) only for:</a:t>
            </a:r>
          </a:p>
          <a:p>
            <a:pPr algn="l">
              <a:spcAft>
                <a:spcPts val="800"/>
              </a:spcAft>
            </a:pPr>
            <a:r>
              <a:rPr sz="1600" b="0">
                <a:solidFill>
                  <a:srgbClr val="1F2A44"/>
                </a:solidFill>
              </a:rPr>
              <a:t>•  hyperparameter recommendations</a:t>
            </a:r>
          </a:p>
          <a:p>
            <a:pPr algn="l">
              <a:spcAft>
                <a:spcPts val="800"/>
              </a:spcAft>
            </a:pPr>
            <a:r>
              <a:rPr sz="1600" b="0">
                <a:solidFill>
                  <a:srgbClr val="1F2A44"/>
                </a:solidFill>
              </a:rPr>
              <a:t>•  questioning our choices and results</a:t>
            </a:r>
          </a:p>
          <a:p>
            <a:pPr algn="l">
              <a:spcAft>
                <a:spcPts val="800"/>
              </a:spcAft>
            </a:pPr>
            <a:r>
              <a:rPr sz="1600" b="0">
                <a:solidFill>
                  <a:srgbClr val="1F2A44"/>
                </a:solidFill>
              </a:rPr>
              <a:t>•  text formatting</a:t>
            </a:r>
          </a:p>
          <a:p>
            <a:pPr algn="l">
              <a:spcAft>
                <a:spcPts val="800"/>
              </a:spcAft>
            </a:pPr>
            <a:r>
              <a:rPr sz="1600" b="0">
                <a:solidFill>
                  <a:srgbClr val="1F2A44"/>
                </a:solidFill>
              </a:rPr>
              <a:t/>
            </a:r>
          </a:p>
          <a:p>
            <a:pPr algn="l">
              <a:spcAft>
                <a:spcPts val="800"/>
              </a:spcAft>
            </a:pPr>
            <a:r>
              <a:rPr sz="1600" b="0">
                <a:solidFill>
                  <a:srgbClr val="1F2A44"/>
                </a:solidFill>
              </a:rPr>
              <a:t>We ran every experiment ourselves.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